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diagrams/data12.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6"/>
  </p:notesMasterIdLst>
  <p:handoutMasterIdLst>
    <p:handoutMasterId r:id="rId7"/>
  </p:handoutMasterIdLst>
  <p:sldIdLst>
    <p:sldId id="1322" r:id="rId2"/>
    <p:sldId id="1321" r:id="rId3"/>
    <p:sldId id="781" r:id="rId4"/>
    <p:sldId id="890" r:id="rId5"/>
  </p:sldIdLst>
  <p:sldSz cx="9144000" cy="6858000" type="screen4x3"/>
  <p:notesSz cx="7315200" cy="96012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p15:clr>
            <a:srgbClr val="A4A3A4"/>
          </p15:clr>
        </p15:guide>
        <p15:guide id="3" orient="horz" pos="42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Perrin" initials="PBP"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C1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72855" autoAdjust="0"/>
  </p:normalViewPr>
  <p:slideViewPr>
    <p:cSldViewPr showGuides="1">
      <p:cViewPr varScale="1">
        <p:scale>
          <a:sx n="79" d="100"/>
          <a:sy n="79" d="100"/>
        </p:scale>
        <p:origin x="2400" y="78"/>
      </p:cViewPr>
      <p:guideLst>
        <p:guide pos="2880"/>
        <p:guide orient="horz" pos="4292"/>
      </p:guideLst>
    </p:cSldViewPr>
  </p:slideViewPr>
  <p:notesTextViewPr>
    <p:cViewPr>
      <p:scale>
        <a:sx n="3" d="2"/>
        <a:sy n="3" d="2"/>
      </p:scale>
      <p:origin x="0" y="0"/>
    </p:cViewPr>
  </p:notesTextViewPr>
  <p:sorterViewPr>
    <p:cViewPr>
      <p:scale>
        <a:sx n="75" d="100"/>
        <a:sy n="75" d="100"/>
      </p:scale>
      <p:origin x="0" y="-869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2.xml.rels><?xml version="1.0" encoding="UTF-8" standalone="yes"?>
<Relationships xmlns="http://schemas.openxmlformats.org/package/2006/relationships"><Relationship Id="rId2" Type="http://schemas.openxmlformats.org/officeDocument/2006/relationships/image" Target="../media/image1060.png"/><Relationship Id="rId1" Type="http://schemas.openxmlformats.org/officeDocument/2006/relationships/image" Target="../media/image1050.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499DA7-3D57-40EF-A6D1-0FE989AE0B8A}" type="doc">
      <dgm:prSet loTypeId="urn:microsoft.com/office/officeart/2005/8/layout/hProcess9" loCatId="process" qsTypeId="urn:microsoft.com/office/officeart/2005/8/quickstyle/3d3" qsCatId="3D" csTypeId="urn:microsoft.com/office/officeart/2005/8/colors/colorful3" csCatId="colorful" phldr="1"/>
      <dgm:spPr/>
    </dgm:pt>
    <mc:AlternateContent xmlns:mc="http://schemas.openxmlformats.org/markup-compatibility/2006" xmlns:a14="http://schemas.microsoft.com/office/drawing/2010/main">
      <mc:Choice Requires="a14">
        <dgm:pt modelId="{C9B90D99-2F34-40BD-BF91-EF8FD479566E}">
          <dgm:prSet phldrT="[Texto]" custT="1"/>
          <dgm:spPr/>
          <dgm:t>
            <a:bodyPr/>
            <a:lstStyle/>
            <a:p>
              <a:r>
                <a:rPr lang="en-US" sz="1400" dirty="0"/>
                <a:t>3. </a:t>
              </a:r>
              <a:r>
                <a:rPr lang="es-ES" sz="1400" dirty="0"/>
                <a:t>Transformar el valor residual a puntuación z </a:t>
              </a:r>
              <a:endParaRPr lang="en-US" sz="1400" dirty="0"/>
            </a:p>
            <a:p>
              <a14:m>
                <m:oMath xmlns:m="http://schemas.openxmlformats.org/officeDocument/2006/math">
                  <m:acc>
                    <m:accPr>
                      <m:chr m:val="̂"/>
                      <m:ctrlPr>
                        <a:rPr lang="es-ES" sz="1400" i="1" smtClean="0">
                          <a:latin typeface="Cambria Math" panose="02040503050406030204" pitchFamily="18" charset="0"/>
                        </a:rPr>
                      </m:ctrlPr>
                    </m:accPr>
                    <m:e>
                      <m:sSub>
                        <m:sSubPr>
                          <m:ctrlPr>
                            <a:rPr lang="es-ES" sz="1400" i="1">
                              <a:latin typeface="Cambria Math" panose="02040503050406030204" pitchFamily="18" charset="0"/>
                            </a:rPr>
                          </m:ctrlPr>
                        </m:sSubPr>
                        <m:e>
                          <m:r>
                            <a:rPr lang="en-US" sz="1400" i="1">
                              <a:latin typeface="Cambria Math"/>
                            </a:rPr>
                            <m:t>𝑧</m:t>
                          </m:r>
                        </m:e>
                        <m:sub>
                          <m:r>
                            <a:rPr lang="en-US" sz="1400" i="1">
                              <a:latin typeface="Cambria Math"/>
                            </a:rPr>
                            <m:t>𝑖</m:t>
                          </m:r>
                        </m:sub>
                      </m:sSub>
                    </m:e>
                  </m:acc>
                  <m:r>
                    <a:rPr lang="en-US" sz="1400" i="1">
                      <a:latin typeface="Cambria Math"/>
                    </a:rPr>
                    <m:t>=</m:t>
                  </m:r>
                  <m:sSub>
                    <m:sSubPr>
                      <m:ctrlPr>
                        <a:rPr lang="es-ES" sz="1400" i="1">
                          <a:latin typeface="Cambria Math" panose="02040503050406030204" pitchFamily="18" charset="0"/>
                        </a:rPr>
                      </m:ctrlPr>
                    </m:sSubPr>
                    <m:e>
                      <m:acc>
                        <m:accPr>
                          <m:chr m:val="̂"/>
                          <m:ctrlPr>
                            <a:rPr lang="es-ES" sz="1400" i="1">
                              <a:latin typeface="Cambria Math" panose="02040503050406030204" pitchFamily="18" charset="0"/>
                            </a:rPr>
                          </m:ctrlPr>
                        </m:accPr>
                        <m:e>
                          <m:r>
                            <a:rPr lang="en-US" sz="1400" i="1">
                              <a:latin typeface="Cambria Math"/>
                            </a:rPr>
                            <m:t>𝑒</m:t>
                          </m:r>
                        </m:e>
                      </m:acc>
                    </m:e>
                    <m:sub>
                      <m:r>
                        <a:rPr lang="en-US" sz="1400" i="1">
                          <a:latin typeface="Cambria Math"/>
                        </a:rPr>
                        <m:t>𝑖</m:t>
                      </m:r>
                    </m:sub>
                  </m:sSub>
                  <m:r>
                    <a:rPr lang="en-US" sz="1400" i="1">
                      <a:latin typeface="Cambria Math"/>
                    </a:rPr>
                    <m:t> /</m:t>
                  </m:r>
                  <m:sSub>
                    <m:sSubPr>
                      <m:ctrlPr>
                        <a:rPr lang="es-ES" sz="1400" i="1">
                          <a:latin typeface="Cambria Math" panose="02040503050406030204" pitchFamily="18" charset="0"/>
                        </a:rPr>
                      </m:ctrlPr>
                    </m:sSubPr>
                    <m:e>
                      <m:r>
                        <a:rPr lang="en-US" sz="1400" i="1">
                          <a:latin typeface="Cambria Math"/>
                        </a:rPr>
                        <m:t>𝑆𝐷</m:t>
                      </m:r>
                    </m:e>
                    <m:sub>
                      <m:r>
                        <a:rPr lang="en-US" sz="1400" i="1">
                          <a:latin typeface="Cambria Math"/>
                        </a:rPr>
                        <m:t>𝑒</m:t>
                      </m:r>
                    </m:sub>
                  </m:sSub>
                </m:oMath>
              </a14:m>
              <a:r>
                <a:rPr lang="en-US" sz="1400" dirty="0"/>
                <a:t>.</a:t>
              </a:r>
              <a:endParaRPr lang="es-CO" sz="1400" dirty="0"/>
            </a:p>
          </dgm:t>
        </dgm:pt>
      </mc:Choice>
      <mc:Fallback xmlns="">
        <dgm:pt modelId="{C9B90D99-2F34-40BD-BF91-EF8FD479566E}">
          <dgm:prSet phldrT="[Texto]" custT="1"/>
          <dgm:spPr/>
          <dgm:t>
            <a:bodyPr/>
            <a:lstStyle/>
            <a:p>
              <a:r>
                <a:rPr lang="en-US" sz="1400" dirty="0"/>
                <a:t>3. </a:t>
              </a:r>
              <a:r>
                <a:rPr lang="es-ES" sz="1400" dirty="0"/>
                <a:t>Transformar el valor residual a puntuación z </a:t>
              </a:r>
              <a:endParaRPr lang="en-US" sz="1400" dirty="0"/>
            </a:p>
            <a:p>
              <a:r>
                <a:rPr lang="es-ES" sz="1400" i="0">
                  <a:latin typeface="Cambria Math" panose="02040503050406030204" pitchFamily="18" charset="0"/>
                </a:rPr>
                <a:t>(</a:t>
              </a:r>
              <a:r>
                <a:rPr lang="en-US" sz="1400" i="0">
                  <a:latin typeface="Cambria Math"/>
                </a:rPr>
                <a:t>𝑧</a:t>
              </a:r>
              <a:r>
                <a:rPr lang="es-ES" sz="1400" i="0">
                  <a:latin typeface="Cambria Math" panose="02040503050406030204" pitchFamily="18" charset="0"/>
                </a:rPr>
                <a:t>_</a:t>
              </a:r>
              <a:r>
                <a:rPr lang="en-US" sz="1400" i="0">
                  <a:latin typeface="Cambria Math"/>
                </a:rPr>
                <a:t>𝑖</a:t>
              </a:r>
              <a:r>
                <a:rPr lang="en-US" sz="1400" i="0">
                  <a:latin typeface="Cambria Math" panose="02040503050406030204" pitchFamily="18" charset="0"/>
                </a:rPr>
                <a:t> </a:t>
              </a:r>
              <a:r>
                <a:rPr lang="es-ES" sz="1400" i="0">
                  <a:latin typeface="Cambria Math" panose="02040503050406030204" pitchFamily="18" charset="0"/>
                </a:rPr>
                <a:t>) ̂</a:t>
              </a:r>
              <a:r>
                <a:rPr lang="en-US" sz="1400" i="0">
                  <a:latin typeface="Cambria Math"/>
                </a:rPr>
                <a:t>=𝑒</a:t>
              </a:r>
              <a:r>
                <a:rPr lang="es-ES" sz="1400" i="0">
                  <a:latin typeface="Cambria Math" panose="02040503050406030204" pitchFamily="18" charset="0"/>
                </a:rPr>
                <a:t> ̂_</a:t>
              </a:r>
              <a:r>
                <a:rPr lang="en-US" sz="1400" i="0">
                  <a:latin typeface="Cambria Math"/>
                </a:rPr>
                <a:t>𝑖  /</a:t>
              </a:r>
              <a:r>
                <a:rPr lang="es-ES" sz="1400" i="0">
                  <a:latin typeface="Cambria Math" panose="02040503050406030204" pitchFamily="18" charset="0"/>
                </a:rPr>
                <a:t>〖</a:t>
              </a:r>
              <a:r>
                <a:rPr lang="en-US" sz="1400" i="0">
                  <a:latin typeface="Cambria Math"/>
                </a:rPr>
                <a:t>𝑆𝐷</a:t>
              </a:r>
              <a:r>
                <a:rPr lang="es-ES" sz="1400" i="0">
                  <a:latin typeface="Cambria Math" panose="02040503050406030204" pitchFamily="18" charset="0"/>
                </a:rPr>
                <a:t>〗_</a:t>
              </a:r>
              <a:r>
                <a:rPr lang="en-US" sz="1400" i="0">
                  <a:latin typeface="Cambria Math"/>
                </a:rPr>
                <a:t>𝑒</a:t>
              </a:r>
              <a:r>
                <a:rPr lang="en-US" sz="1400" dirty="0"/>
                <a:t>.</a:t>
              </a:r>
              <a:endParaRPr lang="es-CO" sz="1400" dirty="0"/>
            </a:p>
          </dgm:t>
        </dgm:pt>
      </mc:Fallback>
    </mc:AlternateContent>
    <dgm:pt modelId="{24ABAC75-BD23-43C2-97D9-3A4C80386C9F}" type="parTrans" cxnId="{C81A3F7C-F382-4FE2-964E-88CD9489F47B}">
      <dgm:prSet/>
      <dgm:spPr/>
      <dgm:t>
        <a:bodyPr/>
        <a:lstStyle/>
        <a:p>
          <a:endParaRPr lang="es-CO"/>
        </a:p>
      </dgm:t>
    </dgm:pt>
    <dgm:pt modelId="{4E481B2F-5E13-4C4C-9205-6B18E077F4F1}" type="sibTrans" cxnId="{C81A3F7C-F382-4FE2-964E-88CD9489F47B}">
      <dgm:prSet/>
      <dgm:spPr/>
      <dgm:t>
        <a:bodyPr/>
        <a:lstStyle/>
        <a:p>
          <a:endParaRPr lang="es-CO"/>
        </a:p>
      </dgm:t>
    </dgm:pt>
    <mc:AlternateContent xmlns:mc="http://schemas.openxmlformats.org/markup-compatibility/2006" xmlns:a14="http://schemas.microsoft.com/office/drawing/2010/main">
      <mc:Choice Requires="a14">
        <dgm:pt modelId="{27FE84ED-4FDD-495A-8233-C5242EEE7AEC}">
          <dgm:prSet custT="1"/>
          <dgm:spPr/>
          <dgm:t>
            <a:bodyPr/>
            <a:lstStyle/>
            <a:p>
              <a:r>
                <a:rPr lang="es-CO" sz="1400" dirty="0"/>
                <a:t>2. </a:t>
              </a:r>
              <a:r>
                <a:rPr lang="es-ES" sz="1400" noProof="0" dirty="0"/>
                <a:t>Calcular el valor residual </a:t>
              </a:r>
            </a:p>
            <a:p>
              <a:r>
                <a:rPr lang="en-US" sz="1400" dirty="0"/>
                <a:t> </a:t>
              </a:r>
              <a14:m>
                <m:oMath xmlns:m="http://schemas.openxmlformats.org/officeDocument/2006/math">
                  <m:sSub>
                    <m:sSubPr>
                      <m:ctrlPr>
                        <a:rPr lang="es-ES" sz="1400" i="1" smtClean="0">
                          <a:latin typeface="Cambria Math" panose="02040503050406030204" pitchFamily="18" charset="0"/>
                        </a:rPr>
                      </m:ctrlPr>
                    </m:sSubPr>
                    <m:e>
                      <m:acc>
                        <m:accPr>
                          <m:chr m:val="̂"/>
                          <m:ctrlPr>
                            <a:rPr lang="es-ES" sz="1400" i="1">
                              <a:latin typeface="Cambria Math" panose="02040503050406030204" pitchFamily="18" charset="0"/>
                            </a:rPr>
                          </m:ctrlPr>
                        </m:accPr>
                        <m:e>
                          <m:r>
                            <a:rPr lang="en-US" sz="1400" i="1">
                              <a:latin typeface="Cambria Math"/>
                            </a:rPr>
                            <m:t>𝑒</m:t>
                          </m:r>
                        </m:e>
                      </m:acc>
                    </m:e>
                    <m:sub>
                      <m:r>
                        <a:rPr lang="en-US" sz="1400" i="1">
                          <a:latin typeface="Cambria Math"/>
                        </a:rPr>
                        <m:t>𝑖</m:t>
                      </m:r>
                    </m:sub>
                  </m:sSub>
                  <m:r>
                    <a:rPr lang="en-US" sz="1400" i="1">
                      <a:latin typeface="Cambria Math"/>
                    </a:rPr>
                    <m:t>= </m:t>
                  </m:r>
                  <m:sSub>
                    <m:sSubPr>
                      <m:ctrlPr>
                        <a:rPr lang="es-ES" sz="1400" i="1">
                          <a:latin typeface="Cambria Math" panose="02040503050406030204" pitchFamily="18" charset="0"/>
                        </a:rPr>
                      </m:ctrlPr>
                    </m:sSubPr>
                    <m:e>
                      <m:r>
                        <a:rPr lang="en-US" sz="1400" i="1">
                          <a:latin typeface="Cambria Math"/>
                        </a:rPr>
                        <m:t>𝑌</m:t>
                      </m:r>
                    </m:e>
                    <m:sub>
                      <m:r>
                        <a:rPr lang="en-US" sz="1400" i="1">
                          <a:latin typeface="Cambria Math"/>
                        </a:rPr>
                        <m:t>𝑖</m:t>
                      </m:r>
                    </m:sub>
                  </m:sSub>
                  <m:r>
                    <a:rPr lang="en-US" sz="1400" i="1">
                      <a:latin typeface="Cambria Math"/>
                    </a:rPr>
                    <m:t>− </m:t>
                  </m:r>
                  <m:sSub>
                    <m:sSubPr>
                      <m:ctrlPr>
                        <a:rPr lang="es-ES" sz="1400" i="1">
                          <a:latin typeface="Cambria Math" panose="02040503050406030204" pitchFamily="18" charset="0"/>
                        </a:rPr>
                      </m:ctrlPr>
                    </m:sSubPr>
                    <m:e>
                      <m:acc>
                        <m:accPr>
                          <m:chr m:val="̂"/>
                          <m:ctrlPr>
                            <a:rPr lang="es-ES" sz="1400" i="1">
                              <a:latin typeface="Cambria Math" panose="02040503050406030204" pitchFamily="18" charset="0"/>
                            </a:rPr>
                          </m:ctrlPr>
                        </m:accPr>
                        <m:e>
                          <m:r>
                            <a:rPr lang="en-US" sz="1400" i="1">
                              <a:latin typeface="Cambria Math"/>
                            </a:rPr>
                            <m:t>𝑌</m:t>
                          </m:r>
                        </m:e>
                      </m:acc>
                    </m:e>
                    <m:sub>
                      <m:r>
                        <a:rPr lang="en-US" sz="1400" i="1">
                          <a:latin typeface="Cambria Math"/>
                        </a:rPr>
                        <m:t>𝑖</m:t>
                      </m:r>
                    </m:sub>
                  </m:sSub>
                </m:oMath>
              </a14:m>
              <a:r>
                <a:rPr lang="en-US" sz="1400" dirty="0"/>
                <a:t>.</a:t>
              </a:r>
              <a:endParaRPr lang="es-CO" sz="1400" dirty="0"/>
            </a:p>
          </dgm:t>
        </dgm:pt>
      </mc:Choice>
      <mc:Fallback xmlns="">
        <dgm:pt modelId="{27FE84ED-4FDD-495A-8233-C5242EEE7AEC}">
          <dgm:prSet custT="1"/>
          <dgm:spPr/>
          <dgm:t>
            <a:bodyPr/>
            <a:lstStyle/>
            <a:p>
              <a:r>
                <a:rPr lang="es-CO" sz="1400" dirty="0"/>
                <a:t>2. </a:t>
              </a:r>
              <a:r>
                <a:rPr lang="es-ES" sz="1400" noProof="0" dirty="0"/>
                <a:t>Calcular el valor residual </a:t>
              </a:r>
            </a:p>
            <a:p>
              <a:r>
                <a:rPr lang="en-US" sz="1400" dirty="0"/>
                <a:t> </a:t>
              </a:r>
              <a:r>
                <a:rPr lang="en-US" sz="1400" i="0">
                  <a:latin typeface="Cambria Math"/>
                </a:rPr>
                <a:t>𝑒</a:t>
              </a:r>
              <a:r>
                <a:rPr lang="es-ES" sz="1400" i="0">
                  <a:latin typeface="Cambria Math" panose="02040503050406030204" pitchFamily="18" charset="0"/>
                </a:rPr>
                <a:t> ̂_</a:t>
              </a:r>
              <a:r>
                <a:rPr lang="en-US" sz="1400" i="0">
                  <a:latin typeface="Cambria Math"/>
                </a:rPr>
                <a:t>𝑖= 𝑌</a:t>
              </a:r>
              <a:r>
                <a:rPr lang="es-ES" sz="1400" i="0">
                  <a:latin typeface="Cambria Math" panose="02040503050406030204" pitchFamily="18" charset="0"/>
                </a:rPr>
                <a:t>_</a:t>
              </a:r>
              <a:r>
                <a:rPr lang="en-US" sz="1400" i="0">
                  <a:latin typeface="Cambria Math"/>
                </a:rPr>
                <a:t>𝑖− 𝑌</a:t>
              </a:r>
              <a:r>
                <a:rPr lang="es-ES" sz="1400" i="0">
                  <a:latin typeface="Cambria Math" panose="02040503050406030204" pitchFamily="18" charset="0"/>
                </a:rPr>
                <a:t> ̂_</a:t>
              </a:r>
              <a:r>
                <a:rPr lang="en-US" sz="1400" i="0">
                  <a:latin typeface="Cambria Math"/>
                </a:rPr>
                <a:t>𝑖</a:t>
              </a:r>
              <a:r>
                <a:rPr lang="en-US" sz="1400" dirty="0"/>
                <a:t>.</a:t>
              </a:r>
              <a:endParaRPr lang="es-CO" sz="1400" dirty="0"/>
            </a:p>
          </dgm:t>
        </dgm:pt>
      </mc:Fallback>
    </mc:AlternateContent>
    <dgm:pt modelId="{83DBC40A-0610-4248-A859-D1D710237FD9}" type="parTrans" cxnId="{85BDBAFB-4CA7-4BFA-B5FD-39195E315B70}">
      <dgm:prSet/>
      <dgm:spPr/>
      <dgm:t>
        <a:bodyPr/>
        <a:lstStyle/>
        <a:p>
          <a:endParaRPr lang="es-CO"/>
        </a:p>
      </dgm:t>
    </dgm:pt>
    <dgm:pt modelId="{91574A94-BF2E-43F2-B628-8A29EB88EDC4}" type="sibTrans" cxnId="{85BDBAFB-4CA7-4BFA-B5FD-39195E315B70}">
      <dgm:prSet/>
      <dgm:spPr/>
      <dgm:t>
        <a:bodyPr/>
        <a:lstStyle/>
        <a:p>
          <a:endParaRPr lang="es-CO"/>
        </a:p>
      </dgm:t>
    </dgm:pt>
    <dgm:pt modelId="{ACE78307-06A4-4558-9111-7F7105F23EF6}">
      <dgm:prSet custT="1"/>
      <dgm:spPr/>
      <dgm:t>
        <a:bodyPr/>
        <a:lstStyle/>
        <a:p>
          <a:r>
            <a:rPr lang="en-US" sz="1400" dirty="0"/>
            <a:t>1. </a:t>
          </a:r>
          <a:r>
            <a:rPr lang="es-ES" sz="1400" noProof="0" dirty="0"/>
            <a:t>Obtener la puntuación predictiva </a:t>
          </a:r>
        </a:p>
      </dgm:t>
    </dgm:pt>
    <dgm:pt modelId="{C5B4609C-48D5-4604-B653-EAD5F6CC2839}" type="parTrans" cxnId="{9F6CE762-2DD0-4F46-B24D-1D58FBD4CC83}">
      <dgm:prSet/>
      <dgm:spPr/>
      <dgm:t>
        <a:bodyPr/>
        <a:lstStyle/>
        <a:p>
          <a:endParaRPr lang="es-CO"/>
        </a:p>
      </dgm:t>
    </dgm:pt>
    <dgm:pt modelId="{F6C89D96-7FE7-41B5-878B-F254CDAE9FF7}" type="sibTrans" cxnId="{9F6CE762-2DD0-4F46-B24D-1D58FBD4CC83}">
      <dgm:prSet/>
      <dgm:spPr/>
      <dgm:t>
        <a:bodyPr/>
        <a:lstStyle/>
        <a:p>
          <a:endParaRPr lang="es-CO"/>
        </a:p>
      </dgm:t>
    </dgm:pt>
    <dgm:pt modelId="{FC023E9A-F5D2-4DF6-B473-2885313847F5}">
      <dgm:prSet phldrT="[Texto]" custT="1"/>
      <dgm:spPr/>
      <dgm:t>
        <a:bodyPr/>
        <a:lstStyle/>
        <a:p>
          <a:r>
            <a:rPr lang="es-CO" sz="1400" dirty="0"/>
            <a:t>4. </a:t>
          </a:r>
          <a:r>
            <a:rPr lang="es-ES" sz="1400" dirty="0"/>
            <a:t>Transformar el valor z a percentil  exacto </a:t>
          </a:r>
          <a:endParaRPr lang="es-CO" sz="1400" dirty="0"/>
        </a:p>
      </dgm:t>
    </dgm:pt>
    <dgm:pt modelId="{4544A1CC-5B19-4D24-B2F4-AE85374281CE}" type="parTrans" cxnId="{64D85BBD-6847-4C5C-BD7E-9D62121FE0B5}">
      <dgm:prSet/>
      <dgm:spPr/>
      <dgm:t>
        <a:bodyPr/>
        <a:lstStyle/>
        <a:p>
          <a:endParaRPr lang="es-ES"/>
        </a:p>
      </dgm:t>
    </dgm:pt>
    <dgm:pt modelId="{7582249C-B8EE-4716-8051-3D08D1869DED}" type="sibTrans" cxnId="{64D85BBD-6847-4C5C-BD7E-9D62121FE0B5}">
      <dgm:prSet/>
      <dgm:spPr/>
      <dgm:t>
        <a:bodyPr/>
        <a:lstStyle/>
        <a:p>
          <a:endParaRPr lang="es-ES"/>
        </a:p>
      </dgm:t>
    </dgm:pt>
    <dgm:pt modelId="{DC20109C-726E-46B3-B94B-56B01B086702}" type="pres">
      <dgm:prSet presAssocID="{D8499DA7-3D57-40EF-A6D1-0FE989AE0B8A}" presName="CompostProcess" presStyleCnt="0">
        <dgm:presLayoutVars>
          <dgm:dir/>
          <dgm:resizeHandles val="exact"/>
        </dgm:presLayoutVars>
      </dgm:prSet>
      <dgm:spPr/>
    </dgm:pt>
    <dgm:pt modelId="{321A395F-A565-4883-AF6F-4D87CC939705}" type="pres">
      <dgm:prSet presAssocID="{D8499DA7-3D57-40EF-A6D1-0FE989AE0B8A}" presName="arrow" presStyleLbl="bgShp" presStyleIdx="0" presStyleCnt="1" custLinFactNeighborX="-1019" custLinFactNeighborY="-304"/>
      <dgm:spPr/>
    </dgm:pt>
    <dgm:pt modelId="{F5001795-5D8B-482A-842B-FD5BF95A6D21}" type="pres">
      <dgm:prSet presAssocID="{D8499DA7-3D57-40EF-A6D1-0FE989AE0B8A}" presName="linearProcess" presStyleCnt="0"/>
      <dgm:spPr/>
    </dgm:pt>
    <dgm:pt modelId="{3EF1624C-1CC7-4D98-AE12-328EF7510D64}" type="pres">
      <dgm:prSet presAssocID="{ACE78307-06A4-4558-9111-7F7105F23EF6}" presName="textNode" presStyleLbl="node1" presStyleIdx="0" presStyleCnt="4">
        <dgm:presLayoutVars>
          <dgm:bulletEnabled val="1"/>
        </dgm:presLayoutVars>
      </dgm:prSet>
      <dgm:spPr/>
    </dgm:pt>
    <dgm:pt modelId="{A28D288C-2A17-49D0-B735-C032C40FD459}" type="pres">
      <dgm:prSet presAssocID="{F6C89D96-7FE7-41B5-878B-F254CDAE9FF7}" presName="sibTrans" presStyleCnt="0"/>
      <dgm:spPr/>
    </dgm:pt>
    <dgm:pt modelId="{1A03AA1C-A59F-4E41-9A18-7BB89F7B4BEE}" type="pres">
      <dgm:prSet presAssocID="{27FE84ED-4FDD-495A-8233-C5242EEE7AEC}" presName="textNode" presStyleLbl="node1" presStyleIdx="1" presStyleCnt="4">
        <dgm:presLayoutVars>
          <dgm:bulletEnabled val="1"/>
        </dgm:presLayoutVars>
      </dgm:prSet>
      <dgm:spPr/>
    </dgm:pt>
    <dgm:pt modelId="{F072DA1A-3C13-4FB9-8427-DFA460F3EBC2}" type="pres">
      <dgm:prSet presAssocID="{91574A94-BF2E-43F2-B628-8A29EB88EDC4}" presName="sibTrans" presStyleCnt="0"/>
      <dgm:spPr/>
    </dgm:pt>
    <dgm:pt modelId="{511D2576-2E1C-4C13-AB29-6E2BA9C02D3A}" type="pres">
      <dgm:prSet presAssocID="{C9B90D99-2F34-40BD-BF91-EF8FD479566E}" presName="textNode" presStyleLbl="node1" presStyleIdx="2" presStyleCnt="4">
        <dgm:presLayoutVars>
          <dgm:bulletEnabled val="1"/>
        </dgm:presLayoutVars>
      </dgm:prSet>
      <dgm:spPr/>
    </dgm:pt>
    <dgm:pt modelId="{49BDE6C4-EC71-4C2E-834C-49D85C582CC8}" type="pres">
      <dgm:prSet presAssocID="{4E481B2F-5E13-4C4C-9205-6B18E077F4F1}" presName="sibTrans" presStyleCnt="0"/>
      <dgm:spPr/>
    </dgm:pt>
    <dgm:pt modelId="{15BDF4EF-1379-46C5-84C1-ED95C3EB8220}" type="pres">
      <dgm:prSet presAssocID="{FC023E9A-F5D2-4DF6-B473-2885313847F5}" presName="textNode" presStyleLbl="node1" presStyleIdx="3" presStyleCnt="4">
        <dgm:presLayoutVars>
          <dgm:bulletEnabled val="1"/>
        </dgm:presLayoutVars>
      </dgm:prSet>
      <dgm:spPr/>
    </dgm:pt>
  </dgm:ptLst>
  <dgm:cxnLst>
    <dgm:cxn modelId="{B39AFA19-BF9B-47AD-AE1D-85B551881D3D}" type="presOf" srcId="{ACE78307-06A4-4558-9111-7F7105F23EF6}" destId="{3EF1624C-1CC7-4D98-AE12-328EF7510D64}" srcOrd="0" destOrd="0" presId="urn:microsoft.com/office/officeart/2005/8/layout/hProcess9"/>
    <dgm:cxn modelId="{FF5EE920-7845-4EDE-99EE-BE0D93E54D28}" type="presOf" srcId="{FC023E9A-F5D2-4DF6-B473-2885313847F5}" destId="{15BDF4EF-1379-46C5-84C1-ED95C3EB8220}" srcOrd="0" destOrd="0" presId="urn:microsoft.com/office/officeart/2005/8/layout/hProcess9"/>
    <dgm:cxn modelId="{9F6CE762-2DD0-4F46-B24D-1D58FBD4CC83}" srcId="{D8499DA7-3D57-40EF-A6D1-0FE989AE0B8A}" destId="{ACE78307-06A4-4558-9111-7F7105F23EF6}" srcOrd="0" destOrd="0" parTransId="{C5B4609C-48D5-4604-B653-EAD5F6CC2839}" sibTransId="{F6C89D96-7FE7-41B5-878B-F254CDAE9FF7}"/>
    <dgm:cxn modelId="{C81A3F7C-F382-4FE2-964E-88CD9489F47B}" srcId="{D8499DA7-3D57-40EF-A6D1-0FE989AE0B8A}" destId="{C9B90D99-2F34-40BD-BF91-EF8FD479566E}" srcOrd="2" destOrd="0" parTransId="{24ABAC75-BD23-43C2-97D9-3A4C80386C9F}" sibTransId="{4E481B2F-5E13-4C4C-9205-6B18E077F4F1}"/>
    <dgm:cxn modelId="{9F5A4797-7D49-4C0C-AEA9-F980BC9DA2DE}" type="presOf" srcId="{D8499DA7-3D57-40EF-A6D1-0FE989AE0B8A}" destId="{DC20109C-726E-46B3-B94B-56B01B086702}" srcOrd="0" destOrd="0" presId="urn:microsoft.com/office/officeart/2005/8/layout/hProcess9"/>
    <dgm:cxn modelId="{64D85BBD-6847-4C5C-BD7E-9D62121FE0B5}" srcId="{D8499DA7-3D57-40EF-A6D1-0FE989AE0B8A}" destId="{FC023E9A-F5D2-4DF6-B473-2885313847F5}" srcOrd="3" destOrd="0" parTransId="{4544A1CC-5B19-4D24-B2F4-AE85374281CE}" sibTransId="{7582249C-B8EE-4716-8051-3D08D1869DED}"/>
    <dgm:cxn modelId="{3BFD9FC0-9C59-45B8-81F5-9CBF5E98D7CD}" type="presOf" srcId="{27FE84ED-4FDD-495A-8233-C5242EEE7AEC}" destId="{1A03AA1C-A59F-4E41-9A18-7BB89F7B4BEE}" srcOrd="0" destOrd="0" presId="urn:microsoft.com/office/officeart/2005/8/layout/hProcess9"/>
    <dgm:cxn modelId="{7813A6F7-9574-4A73-AABF-BB26E443DE59}" type="presOf" srcId="{C9B90D99-2F34-40BD-BF91-EF8FD479566E}" destId="{511D2576-2E1C-4C13-AB29-6E2BA9C02D3A}" srcOrd="0" destOrd="0" presId="urn:microsoft.com/office/officeart/2005/8/layout/hProcess9"/>
    <dgm:cxn modelId="{85BDBAFB-4CA7-4BFA-B5FD-39195E315B70}" srcId="{D8499DA7-3D57-40EF-A6D1-0FE989AE0B8A}" destId="{27FE84ED-4FDD-495A-8233-C5242EEE7AEC}" srcOrd="1" destOrd="0" parTransId="{83DBC40A-0610-4248-A859-D1D710237FD9}" sibTransId="{91574A94-BF2E-43F2-B628-8A29EB88EDC4}"/>
    <dgm:cxn modelId="{CB2DA86E-CAB5-4097-9E5F-947C86258155}" type="presParOf" srcId="{DC20109C-726E-46B3-B94B-56B01B086702}" destId="{321A395F-A565-4883-AF6F-4D87CC939705}" srcOrd="0" destOrd="0" presId="urn:microsoft.com/office/officeart/2005/8/layout/hProcess9"/>
    <dgm:cxn modelId="{CC4CFE67-1DBA-4278-9222-EB0602CEC9A2}" type="presParOf" srcId="{DC20109C-726E-46B3-B94B-56B01B086702}" destId="{F5001795-5D8B-482A-842B-FD5BF95A6D21}" srcOrd="1" destOrd="0" presId="urn:microsoft.com/office/officeart/2005/8/layout/hProcess9"/>
    <dgm:cxn modelId="{264DDB40-25F8-49D1-8345-83A7B0733916}" type="presParOf" srcId="{F5001795-5D8B-482A-842B-FD5BF95A6D21}" destId="{3EF1624C-1CC7-4D98-AE12-328EF7510D64}" srcOrd="0" destOrd="0" presId="urn:microsoft.com/office/officeart/2005/8/layout/hProcess9"/>
    <dgm:cxn modelId="{903C871D-28E8-4D57-85B2-B600838C64C2}" type="presParOf" srcId="{F5001795-5D8B-482A-842B-FD5BF95A6D21}" destId="{A28D288C-2A17-49D0-B735-C032C40FD459}" srcOrd="1" destOrd="0" presId="urn:microsoft.com/office/officeart/2005/8/layout/hProcess9"/>
    <dgm:cxn modelId="{7DDF2A47-8DAD-4923-906D-66844B17FD95}" type="presParOf" srcId="{F5001795-5D8B-482A-842B-FD5BF95A6D21}" destId="{1A03AA1C-A59F-4E41-9A18-7BB89F7B4BEE}" srcOrd="2" destOrd="0" presId="urn:microsoft.com/office/officeart/2005/8/layout/hProcess9"/>
    <dgm:cxn modelId="{6452D130-604E-402F-88DD-3F20FA4A612D}" type="presParOf" srcId="{F5001795-5D8B-482A-842B-FD5BF95A6D21}" destId="{F072DA1A-3C13-4FB9-8427-DFA460F3EBC2}" srcOrd="3" destOrd="0" presId="urn:microsoft.com/office/officeart/2005/8/layout/hProcess9"/>
    <dgm:cxn modelId="{28D2753F-2292-45F5-B6E1-FF1854D98377}" type="presParOf" srcId="{F5001795-5D8B-482A-842B-FD5BF95A6D21}" destId="{511D2576-2E1C-4C13-AB29-6E2BA9C02D3A}" srcOrd="4" destOrd="0" presId="urn:microsoft.com/office/officeart/2005/8/layout/hProcess9"/>
    <dgm:cxn modelId="{B7A3B2B8-343F-4E0F-BC15-CBE8CA0E0F32}" type="presParOf" srcId="{F5001795-5D8B-482A-842B-FD5BF95A6D21}" destId="{49BDE6C4-EC71-4C2E-834C-49D85C582CC8}" srcOrd="5" destOrd="0" presId="urn:microsoft.com/office/officeart/2005/8/layout/hProcess9"/>
    <dgm:cxn modelId="{89B596F2-07D2-4CC5-A9D9-4E3F99BCDA3E}" type="presParOf" srcId="{F5001795-5D8B-482A-842B-FD5BF95A6D21}" destId="{15BDF4EF-1379-46C5-84C1-ED95C3EB8220}"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8499DA7-3D57-40EF-A6D1-0FE989AE0B8A}" type="doc">
      <dgm:prSet loTypeId="urn:microsoft.com/office/officeart/2005/8/layout/hProcess9" loCatId="process" qsTypeId="urn:microsoft.com/office/officeart/2005/8/quickstyle/3d3" qsCatId="3D" csTypeId="urn:microsoft.com/office/officeart/2005/8/colors/colorful3" csCatId="colorful" phldr="1"/>
      <dgm:spPr/>
    </dgm:pt>
    <dgm:pt modelId="{C9B90D99-2F34-40BD-BF91-EF8FD479566E}">
      <dgm:prSet phldrT="[Texto]" custT="1"/>
      <dgm:spPr>
        <a:blipFill>
          <a:blip xmlns:r="http://schemas.openxmlformats.org/officeDocument/2006/relationships" r:embed="rId1"/>
          <a:stretch>
            <a:fillRect/>
          </a:stretch>
        </a:blipFill>
      </dgm:spPr>
      <dgm:t>
        <a:bodyPr/>
        <a:lstStyle/>
        <a:p>
          <a:r>
            <a:rPr lang="es-AR">
              <a:noFill/>
            </a:rPr>
            <a:t> </a:t>
          </a:r>
        </a:p>
      </dgm:t>
    </dgm:pt>
    <dgm:pt modelId="{24ABAC75-BD23-43C2-97D9-3A4C80386C9F}" type="parTrans" cxnId="{C81A3F7C-F382-4FE2-964E-88CD9489F47B}">
      <dgm:prSet/>
      <dgm:spPr/>
      <dgm:t>
        <a:bodyPr/>
        <a:lstStyle/>
        <a:p>
          <a:endParaRPr lang="es-CO"/>
        </a:p>
      </dgm:t>
    </dgm:pt>
    <dgm:pt modelId="{4E481B2F-5E13-4C4C-9205-6B18E077F4F1}" type="sibTrans" cxnId="{C81A3F7C-F382-4FE2-964E-88CD9489F47B}">
      <dgm:prSet/>
      <dgm:spPr/>
      <dgm:t>
        <a:bodyPr/>
        <a:lstStyle/>
        <a:p>
          <a:endParaRPr lang="es-CO"/>
        </a:p>
      </dgm:t>
    </dgm:pt>
    <dgm:pt modelId="{27FE84ED-4FDD-495A-8233-C5242EEE7AEC}">
      <dgm:prSet custT="1"/>
      <dgm:spPr>
        <a:blipFill>
          <a:blip xmlns:r="http://schemas.openxmlformats.org/officeDocument/2006/relationships" r:embed="rId2"/>
          <a:stretch>
            <a:fillRect/>
          </a:stretch>
        </a:blipFill>
      </dgm:spPr>
      <dgm:t>
        <a:bodyPr/>
        <a:lstStyle/>
        <a:p>
          <a:r>
            <a:rPr lang="es-AR">
              <a:noFill/>
            </a:rPr>
            <a:t> </a:t>
          </a:r>
        </a:p>
      </dgm:t>
    </dgm:pt>
    <dgm:pt modelId="{83DBC40A-0610-4248-A859-D1D710237FD9}" type="parTrans" cxnId="{85BDBAFB-4CA7-4BFA-B5FD-39195E315B70}">
      <dgm:prSet/>
      <dgm:spPr/>
      <dgm:t>
        <a:bodyPr/>
        <a:lstStyle/>
        <a:p>
          <a:endParaRPr lang="es-CO"/>
        </a:p>
      </dgm:t>
    </dgm:pt>
    <dgm:pt modelId="{91574A94-BF2E-43F2-B628-8A29EB88EDC4}" type="sibTrans" cxnId="{85BDBAFB-4CA7-4BFA-B5FD-39195E315B70}">
      <dgm:prSet/>
      <dgm:spPr/>
      <dgm:t>
        <a:bodyPr/>
        <a:lstStyle/>
        <a:p>
          <a:endParaRPr lang="es-CO"/>
        </a:p>
      </dgm:t>
    </dgm:pt>
    <dgm:pt modelId="{ACE78307-06A4-4558-9111-7F7105F23EF6}">
      <dgm:prSet custT="1"/>
      <dgm:spPr/>
      <dgm:t>
        <a:bodyPr/>
        <a:lstStyle/>
        <a:p>
          <a:r>
            <a:rPr lang="en-US" sz="1400" dirty="0"/>
            <a:t>1. </a:t>
          </a:r>
          <a:r>
            <a:rPr lang="es-ES" sz="1400" noProof="0" dirty="0"/>
            <a:t>Obtener la puntuación predictiva </a:t>
          </a:r>
        </a:p>
      </dgm:t>
    </dgm:pt>
    <dgm:pt modelId="{C5B4609C-48D5-4604-B653-EAD5F6CC2839}" type="parTrans" cxnId="{9F6CE762-2DD0-4F46-B24D-1D58FBD4CC83}">
      <dgm:prSet/>
      <dgm:spPr/>
      <dgm:t>
        <a:bodyPr/>
        <a:lstStyle/>
        <a:p>
          <a:endParaRPr lang="es-CO"/>
        </a:p>
      </dgm:t>
    </dgm:pt>
    <dgm:pt modelId="{F6C89D96-7FE7-41B5-878B-F254CDAE9FF7}" type="sibTrans" cxnId="{9F6CE762-2DD0-4F46-B24D-1D58FBD4CC83}">
      <dgm:prSet/>
      <dgm:spPr/>
      <dgm:t>
        <a:bodyPr/>
        <a:lstStyle/>
        <a:p>
          <a:endParaRPr lang="es-CO"/>
        </a:p>
      </dgm:t>
    </dgm:pt>
    <dgm:pt modelId="{FC023E9A-F5D2-4DF6-B473-2885313847F5}">
      <dgm:prSet phldrT="[Texto]" custT="1"/>
      <dgm:spPr/>
      <dgm:t>
        <a:bodyPr/>
        <a:lstStyle/>
        <a:p>
          <a:r>
            <a:rPr lang="es-CO" sz="1400" dirty="0"/>
            <a:t>4. </a:t>
          </a:r>
          <a:r>
            <a:rPr lang="es-ES" sz="1400" dirty="0"/>
            <a:t>Transformar el valor z a percentil  exacto </a:t>
          </a:r>
          <a:endParaRPr lang="es-CO" sz="1400" dirty="0"/>
        </a:p>
      </dgm:t>
    </dgm:pt>
    <dgm:pt modelId="{4544A1CC-5B19-4D24-B2F4-AE85374281CE}" type="parTrans" cxnId="{64D85BBD-6847-4C5C-BD7E-9D62121FE0B5}">
      <dgm:prSet/>
      <dgm:spPr/>
      <dgm:t>
        <a:bodyPr/>
        <a:lstStyle/>
        <a:p>
          <a:endParaRPr lang="es-ES"/>
        </a:p>
      </dgm:t>
    </dgm:pt>
    <dgm:pt modelId="{7582249C-B8EE-4716-8051-3D08D1869DED}" type="sibTrans" cxnId="{64D85BBD-6847-4C5C-BD7E-9D62121FE0B5}">
      <dgm:prSet/>
      <dgm:spPr/>
      <dgm:t>
        <a:bodyPr/>
        <a:lstStyle/>
        <a:p>
          <a:endParaRPr lang="es-ES"/>
        </a:p>
      </dgm:t>
    </dgm:pt>
    <dgm:pt modelId="{DC20109C-726E-46B3-B94B-56B01B086702}" type="pres">
      <dgm:prSet presAssocID="{D8499DA7-3D57-40EF-A6D1-0FE989AE0B8A}" presName="CompostProcess" presStyleCnt="0">
        <dgm:presLayoutVars>
          <dgm:dir/>
          <dgm:resizeHandles val="exact"/>
        </dgm:presLayoutVars>
      </dgm:prSet>
      <dgm:spPr/>
    </dgm:pt>
    <dgm:pt modelId="{321A395F-A565-4883-AF6F-4D87CC939705}" type="pres">
      <dgm:prSet presAssocID="{D8499DA7-3D57-40EF-A6D1-0FE989AE0B8A}" presName="arrow" presStyleLbl="bgShp" presStyleIdx="0" presStyleCnt="1" custLinFactNeighborX="-1019" custLinFactNeighborY="-304"/>
      <dgm:spPr/>
    </dgm:pt>
    <dgm:pt modelId="{F5001795-5D8B-482A-842B-FD5BF95A6D21}" type="pres">
      <dgm:prSet presAssocID="{D8499DA7-3D57-40EF-A6D1-0FE989AE0B8A}" presName="linearProcess" presStyleCnt="0"/>
      <dgm:spPr/>
    </dgm:pt>
    <dgm:pt modelId="{3EF1624C-1CC7-4D98-AE12-328EF7510D64}" type="pres">
      <dgm:prSet presAssocID="{ACE78307-06A4-4558-9111-7F7105F23EF6}" presName="textNode" presStyleLbl="node1" presStyleIdx="0" presStyleCnt="4">
        <dgm:presLayoutVars>
          <dgm:bulletEnabled val="1"/>
        </dgm:presLayoutVars>
      </dgm:prSet>
      <dgm:spPr/>
    </dgm:pt>
    <dgm:pt modelId="{A28D288C-2A17-49D0-B735-C032C40FD459}" type="pres">
      <dgm:prSet presAssocID="{F6C89D96-7FE7-41B5-878B-F254CDAE9FF7}" presName="sibTrans" presStyleCnt="0"/>
      <dgm:spPr/>
    </dgm:pt>
    <dgm:pt modelId="{1A03AA1C-A59F-4E41-9A18-7BB89F7B4BEE}" type="pres">
      <dgm:prSet presAssocID="{27FE84ED-4FDD-495A-8233-C5242EEE7AEC}" presName="textNode" presStyleLbl="node1" presStyleIdx="1" presStyleCnt="4">
        <dgm:presLayoutVars>
          <dgm:bulletEnabled val="1"/>
        </dgm:presLayoutVars>
      </dgm:prSet>
      <dgm:spPr/>
    </dgm:pt>
    <dgm:pt modelId="{F072DA1A-3C13-4FB9-8427-DFA460F3EBC2}" type="pres">
      <dgm:prSet presAssocID="{91574A94-BF2E-43F2-B628-8A29EB88EDC4}" presName="sibTrans" presStyleCnt="0"/>
      <dgm:spPr/>
    </dgm:pt>
    <dgm:pt modelId="{511D2576-2E1C-4C13-AB29-6E2BA9C02D3A}" type="pres">
      <dgm:prSet presAssocID="{C9B90D99-2F34-40BD-BF91-EF8FD479566E}" presName="textNode" presStyleLbl="node1" presStyleIdx="2" presStyleCnt="4">
        <dgm:presLayoutVars>
          <dgm:bulletEnabled val="1"/>
        </dgm:presLayoutVars>
      </dgm:prSet>
      <dgm:spPr/>
    </dgm:pt>
    <dgm:pt modelId="{49BDE6C4-EC71-4C2E-834C-49D85C582CC8}" type="pres">
      <dgm:prSet presAssocID="{4E481B2F-5E13-4C4C-9205-6B18E077F4F1}" presName="sibTrans" presStyleCnt="0"/>
      <dgm:spPr/>
    </dgm:pt>
    <dgm:pt modelId="{15BDF4EF-1379-46C5-84C1-ED95C3EB8220}" type="pres">
      <dgm:prSet presAssocID="{FC023E9A-F5D2-4DF6-B473-2885313847F5}" presName="textNode" presStyleLbl="node1" presStyleIdx="3" presStyleCnt="4">
        <dgm:presLayoutVars>
          <dgm:bulletEnabled val="1"/>
        </dgm:presLayoutVars>
      </dgm:prSet>
      <dgm:spPr/>
    </dgm:pt>
  </dgm:ptLst>
  <dgm:cxnLst>
    <dgm:cxn modelId="{B39AFA19-BF9B-47AD-AE1D-85B551881D3D}" type="presOf" srcId="{ACE78307-06A4-4558-9111-7F7105F23EF6}" destId="{3EF1624C-1CC7-4D98-AE12-328EF7510D64}" srcOrd="0" destOrd="0" presId="urn:microsoft.com/office/officeart/2005/8/layout/hProcess9"/>
    <dgm:cxn modelId="{FF5EE920-7845-4EDE-99EE-BE0D93E54D28}" type="presOf" srcId="{FC023E9A-F5D2-4DF6-B473-2885313847F5}" destId="{15BDF4EF-1379-46C5-84C1-ED95C3EB8220}" srcOrd="0" destOrd="0" presId="urn:microsoft.com/office/officeart/2005/8/layout/hProcess9"/>
    <dgm:cxn modelId="{9F6CE762-2DD0-4F46-B24D-1D58FBD4CC83}" srcId="{D8499DA7-3D57-40EF-A6D1-0FE989AE0B8A}" destId="{ACE78307-06A4-4558-9111-7F7105F23EF6}" srcOrd="0" destOrd="0" parTransId="{C5B4609C-48D5-4604-B653-EAD5F6CC2839}" sibTransId="{F6C89D96-7FE7-41B5-878B-F254CDAE9FF7}"/>
    <dgm:cxn modelId="{C81A3F7C-F382-4FE2-964E-88CD9489F47B}" srcId="{D8499DA7-3D57-40EF-A6D1-0FE989AE0B8A}" destId="{C9B90D99-2F34-40BD-BF91-EF8FD479566E}" srcOrd="2" destOrd="0" parTransId="{24ABAC75-BD23-43C2-97D9-3A4C80386C9F}" sibTransId="{4E481B2F-5E13-4C4C-9205-6B18E077F4F1}"/>
    <dgm:cxn modelId="{9F5A4797-7D49-4C0C-AEA9-F980BC9DA2DE}" type="presOf" srcId="{D8499DA7-3D57-40EF-A6D1-0FE989AE0B8A}" destId="{DC20109C-726E-46B3-B94B-56B01B086702}" srcOrd="0" destOrd="0" presId="urn:microsoft.com/office/officeart/2005/8/layout/hProcess9"/>
    <dgm:cxn modelId="{64D85BBD-6847-4C5C-BD7E-9D62121FE0B5}" srcId="{D8499DA7-3D57-40EF-A6D1-0FE989AE0B8A}" destId="{FC023E9A-F5D2-4DF6-B473-2885313847F5}" srcOrd="3" destOrd="0" parTransId="{4544A1CC-5B19-4D24-B2F4-AE85374281CE}" sibTransId="{7582249C-B8EE-4716-8051-3D08D1869DED}"/>
    <dgm:cxn modelId="{3BFD9FC0-9C59-45B8-81F5-9CBF5E98D7CD}" type="presOf" srcId="{27FE84ED-4FDD-495A-8233-C5242EEE7AEC}" destId="{1A03AA1C-A59F-4E41-9A18-7BB89F7B4BEE}" srcOrd="0" destOrd="0" presId="urn:microsoft.com/office/officeart/2005/8/layout/hProcess9"/>
    <dgm:cxn modelId="{7813A6F7-9574-4A73-AABF-BB26E443DE59}" type="presOf" srcId="{C9B90D99-2F34-40BD-BF91-EF8FD479566E}" destId="{511D2576-2E1C-4C13-AB29-6E2BA9C02D3A}" srcOrd="0" destOrd="0" presId="urn:microsoft.com/office/officeart/2005/8/layout/hProcess9"/>
    <dgm:cxn modelId="{85BDBAFB-4CA7-4BFA-B5FD-39195E315B70}" srcId="{D8499DA7-3D57-40EF-A6D1-0FE989AE0B8A}" destId="{27FE84ED-4FDD-495A-8233-C5242EEE7AEC}" srcOrd="1" destOrd="0" parTransId="{83DBC40A-0610-4248-A859-D1D710237FD9}" sibTransId="{91574A94-BF2E-43F2-B628-8A29EB88EDC4}"/>
    <dgm:cxn modelId="{CB2DA86E-CAB5-4097-9E5F-947C86258155}" type="presParOf" srcId="{DC20109C-726E-46B3-B94B-56B01B086702}" destId="{321A395F-A565-4883-AF6F-4D87CC939705}" srcOrd="0" destOrd="0" presId="urn:microsoft.com/office/officeart/2005/8/layout/hProcess9"/>
    <dgm:cxn modelId="{CC4CFE67-1DBA-4278-9222-EB0602CEC9A2}" type="presParOf" srcId="{DC20109C-726E-46B3-B94B-56B01B086702}" destId="{F5001795-5D8B-482A-842B-FD5BF95A6D21}" srcOrd="1" destOrd="0" presId="urn:microsoft.com/office/officeart/2005/8/layout/hProcess9"/>
    <dgm:cxn modelId="{264DDB40-25F8-49D1-8345-83A7B0733916}" type="presParOf" srcId="{F5001795-5D8B-482A-842B-FD5BF95A6D21}" destId="{3EF1624C-1CC7-4D98-AE12-328EF7510D64}" srcOrd="0" destOrd="0" presId="urn:microsoft.com/office/officeart/2005/8/layout/hProcess9"/>
    <dgm:cxn modelId="{903C871D-28E8-4D57-85B2-B600838C64C2}" type="presParOf" srcId="{F5001795-5D8B-482A-842B-FD5BF95A6D21}" destId="{A28D288C-2A17-49D0-B735-C032C40FD459}" srcOrd="1" destOrd="0" presId="urn:microsoft.com/office/officeart/2005/8/layout/hProcess9"/>
    <dgm:cxn modelId="{7DDF2A47-8DAD-4923-906D-66844B17FD95}" type="presParOf" srcId="{F5001795-5D8B-482A-842B-FD5BF95A6D21}" destId="{1A03AA1C-A59F-4E41-9A18-7BB89F7B4BEE}" srcOrd="2" destOrd="0" presId="urn:microsoft.com/office/officeart/2005/8/layout/hProcess9"/>
    <dgm:cxn modelId="{6452D130-604E-402F-88DD-3F20FA4A612D}" type="presParOf" srcId="{F5001795-5D8B-482A-842B-FD5BF95A6D21}" destId="{F072DA1A-3C13-4FB9-8427-DFA460F3EBC2}" srcOrd="3" destOrd="0" presId="urn:microsoft.com/office/officeart/2005/8/layout/hProcess9"/>
    <dgm:cxn modelId="{28D2753F-2292-45F5-B6E1-FF1854D98377}" type="presParOf" srcId="{F5001795-5D8B-482A-842B-FD5BF95A6D21}" destId="{511D2576-2E1C-4C13-AB29-6E2BA9C02D3A}" srcOrd="4" destOrd="0" presId="urn:microsoft.com/office/officeart/2005/8/layout/hProcess9"/>
    <dgm:cxn modelId="{B7A3B2B8-343F-4E0F-BC15-CBE8CA0E0F32}" type="presParOf" srcId="{F5001795-5D8B-482A-842B-FD5BF95A6D21}" destId="{49BDE6C4-EC71-4C2E-834C-49D85C582CC8}" srcOrd="5" destOrd="0" presId="urn:microsoft.com/office/officeart/2005/8/layout/hProcess9"/>
    <dgm:cxn modelId="{89B596F2-07D2-4CC5-A9D9-4E3F99BCDA3E}" type="presParOf" srcId="{F5001795-5D8B-482A-842B-FD5BF95A6D21}" destId="{15BDF4EF-1379-46C5-84C1-ED95C3EB8220}"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A395F-A565-4883-AF6F-4D87CC939705}">
      <dsp:nvSpPr>
        <dsp:cNvPr id="0" name=""/>
        <dsp:cNvSpPr/>
      </dsp:nvSpPr>
      <dsp:spPr>
        <a:xfrm>
          <a:off x="535539" y="0"/>
          <a:ext cx="6861900" cy="4821377"/>
        </a:xfrm>
        <a:prstGeom prst="rightArrow">
          <a:avLst/>
        </a:prstGeom>
        <a:solidFill>
          <a:schemeClr val="accent3">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3EF1624C-1CC7-4D98-AE12-328EF7510D64}">
      <dsp:nvSpPr>
        <dsp:cNvPr id="0" name=""/>
        <dsp:cNvSpPr/>
      </dsp:nvSpPr>
      <dsp:spPr>
        <a:xfrm>
          <a:off x="2759" y="1446413"/>
          <a:ext cx="1792734" cy="1928550"/>
        </a:xfrm>
        <a:prstGeom prst="round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1. </a:t>
          </a:r>
          <a:r>
            <a:rPr lang="es-ES" sz="1400" kern="1200" noProof="0" dirty="0"/>
            <a:t>Obtener la puntuación predictiva </a:t>
          </a:r>
        </a:p>
      </dsp:txBody>
      <dsp:txXfrm>
        <a:off x="90273" y="1533927"/>
        <a:ext cx="1617706" cy="1753522"/>
      </dsp:txXfrm>
    </dsp:sp>
    <dsp:sp modelId="{1A03AA1C-A59F-4E41-9A18-7BB89F7B4BEE}">
      <dsp:nvSpPr>
        <dsp:cNvPr id="0" name=""/>
        <dsp:cNvSpPr/>
      </dsp:nvSpPr>
      <dsp:spPr>
        <a:xfrm>
          <a:off x="2094282" y="1446413"/>
          <a:ext cx="1792734" cy="1928550"/>
        </a:xfrm>
        <a:prstGeom prst="roundRect">
          <a:avLst/>
        </a:prstGeom>
        <a:solidFill>
          <a:schemeClr val="accent3">
            <a:hueOff val="903533"/>
            <a:satOff val="33333"/>
            <a:lumOff val="-490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CO" sz="1400" kern="1200" dirty="0"/>
            <a:t>2. </a:t>
          </a:r>
          <a:r>
            <a:rPr lang="es-ES" sz="1400" kern="1200" noProof="0" dirty="0"/>
            <a:t>Calcular el valor residual </a:t>
          </a:r>
        </a:p>
        <a:p>
          <a:pPr marL="0" lvl="0" indent="0" algn="ctr" defTabSz="622300">
            <a:lnSpc>
              <a:spcPct val="90000"/>
            </a:lnSpc>
            <a:spcBef>
              <a:spcPct val="0"/>
            </a:spcBef>
            <a:spcAft>
              <a:spcPct val="35000"/>
            </a:spcAft>
            <a:buNone/>
          </a:pPr>
          <a:r>
            <a:rPr lang="en-US" sz="1400" kern="1200" dirty="0"/>
            <a:t> </a:t>
          </a:r>
          <a14:m xmlns:a14="http://schemas.microsoft.com/office/drawing/2010/main">
            <m:oMath xmlns:m="http://schemas.openxmlformats.org/officeDocument/2006/math">
              <m:sSub>
                <m:sSubPr>
                  <m:ctrlPr>
                    <a:rPr lang="es-ES" sz="1400" i="1" kern="1200" smtClean="0">
                      <a:latin typeface="Cambria Math" panose="02040503050406030204" pitchFamily="18" charset="0"/>
                    </a:rPr>
                  </m:ctrlPr>
                </m:sSubPr>
                <m:e>
                  <m:acc>
                    <m:accPr>
                      <m:chr m:val="̂"/>
                      <m:ctrlPr>
                        <a:rPr lang="es-ES" sz="1400" i="1" kern="1200">
                          <a:latin typeface="Cambria Math" panose="02040503050406030204" pitchFamily="18" charset="0"/>
                        </a:rPr>
                      </m:ctrlPr>
                    </m:accPr>
                    <m:e>
                      <m:r>
                        <a:rPr lang="en-US" sz="1400" i="1" kern="1200">
                          <a:latin typeface="Cambria Math"/>
                        </a:rPr>
                        <m:t>𝑒</m:t>
                      </m:r>
                    </m:e>
                  </m:acc>
                </m:e>
                <m:sub>
                  <m:r>
                    <a:rPr lang="en-US" sz="1400" i="1" kern="1200">
                      <a:latin typeface="Cambria Math"/>
                    </a:rPr>
                    <m:t>𝑖</m:t>
                  </m:r>
                </m:sub>
              </m:sSub>
              <m:r>
                <a:rPr lang="en-US" sz="1400" i="1" kern="1200">
                  <a:latin typeface="Cambria Math"/>
                </a:rPr>
                <m:t>= </m:t>
              </m:r>
              <m:sSub>
                <m:sSubPr>
                  <m:ctrlPr>
                    <a:rPr lang="es-ES" sz="1400" i="1" kern="1200">
                      <a:latin typeface="Cambria Math" panose="02040503050406030204" pitchFamily="18" charset="0"/>
                    </a:rPr>
                  </m:ctrlPr>
                </m:sSubPr>
                <m:e>
                  <m:r>
                    <a:rPr lang="en-US" sz="1400" i="1" kern="1200">
                      <a:latin typeface="Cambria Math"/>
                    </a:rPr>
                    <m:t>𝑌</m:t>
                  </m:r>
                </m:e>
                <m:sub>
                  <m:r>
                    <a:rPr lang="en-US" sz="1400" i="1" kern="1200">
                      <a:latin typeface="Cambria Math"/>
                    </a:rPr>
                    <m:t>𝑖</m:t>
                  </m:r>
                </m:sub>
              </m:sSub>
              <m:r>
                <a:rPr lang="en-US" sz="1400" i="1" kern="1200">
                  <a:latin typeface="Cambria Math"/>
                </a:rPr>
                <m:t>− </m:t>
              </m:r>
              <m:sSub>
                <m:sSubPr>
                  <m:ctrlPr>
                    <a:rPr lang="es-ES" sz="1400" i="1" kern="1200">
                      <a:latin typeface="Cambria Math" panose="02040503050406030204" pitchFamily="18" charset="0"/>
                    </a:rPr>
                  </m:ctrlPr>
                </m:sSubPr>
                <m:e>
                  <m:acc>
                    <m:accPr>
                      <m:chr m:val="̂"/>
                      <m:ctrlPr>
                        <a:rPr lang="es-ES" sz="1400" i="1" kern="1200">
                          <a:latin typeface="Cambria Math" panose="02040503050406030204" pitchFamily="18" charset="0"/>
                        </a:rPr>
                      </m:ctrlPr>
                    </m:accPr>
                    <m:e>
                      <m:r>
                        <a:rPr lang="en-US" sz="1400" i="1" kern="1200">
                          <a:latin typeface="Cambria Math"/>
                        </a:rPr>
                        <m:t>𝑌</m:t>
                      </m:r>
                    </m:e>
                  </m:acc>
                </m:e>
                <m:sub>
                  <m:r>
                    <a:rPr lang="en-US" sz="1400" i="1" kern="1200">
                      <a:latin typeface="Cambria Math"/>
                    </a:rPr>
                    <m:t>𝑖</m:t>
                  </m:r>
                </m:sub>
              </m:sSub>
            </m:oMath>
          </a14:m>
          <a:r>
            <a:rPr lang="en-US" sz="1400" kern="1200" dirty="0"/>
            <a:t>.</a:t>
          </a:r>
          <a:endParaRPr lang="es-CO" sz="1400" kern="1200" dirty="0"/>
        </a:p>
      </dsp:txBody>
      <dsp:txXfrm>
        <a:off x="2181796" y="1533927"/>
        <a:ext cx="1617706" cy="1753522"/>
      </dsp:txXfrm>
    </dsp:sp>
    <dsp:sp modelId="{511D2576-2E1C-4C13-AB29-6E2BA9C02D3A}">
      <dsp:nvSpPr>
        <dsp:cNvPr id="0" name=""/>
        <dsp:cNvSpPr/>
      </dsp:nvSpPr>
      <dsp:spPr>
        <a:xfrm>
          <a:off x="4185806" y="1446413"/>
          <a:ext cx="1792734" cy="1928550"/>
        </a:xfrm>
        <a:prstGeom prst="roundRect">
          <a:avLst/>
        </a:prstGeom>
        <a:solidFill>
          <a:schemeClr val="accent3">
            <a:hueOff val="1807066"/>
            <a:satOff val="66667"/>
            <a:lumOff val="-980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3. </a:t>
          </a:r>
          <a:r>
            <a:rPr lang="es-ES" sz="1400" kern="1200" dirty="0"/>
            <a:t>Transformar el valor residual a puntuación z </a:t>
          </a:r>
          <a:endParaRPr lang="en-US" sz="1400" kern="1200" dirty="0"/>
        </a:p>
        <a:p>
          <a:pPr marL="0" lvl="0" indent="0" algn="ctr" defTabSz="622300">
            <a:lnSpc>
              <a:spcPct val="90000"/>
            </a:lnSpc>
            <a:spcBef>
              <a:spcPct val="0"/>
            </a:spcBef>
            <a:spcAft>
              <a:spcPct val="35000"/>
            </a:spcAft>
            <a:buNone/>
          </a:pPr>
          <a14:m xmlns:a14="http://schemas.microsoft.com/office/drawing/2010/main">
            <m:oMath xmlns:m="http://schemas.openxmlformats.org/officeDocument/2006/math">
              <m:acc>
                <m:accPr>
                  <m:chr m:val="̂"/>
                  <m:ctrlPr>
                    <a:rPr lang="es-ES" sz="1400" i="1" kern="1200" smtClean="0">
                      <a:latin typeface="Cambria Math" panose="02040503050406030204" pitchFamily="18" charset="0"/>
                    </a:rPr>
                  </m:ctrlPr>
                </m:accPr>
                <m:e>
                  <m:sSub>
                    <m:sSubPr>
                      <m:ctrlPr>
                        <a:rPr lang="es-ES" sz="1400" i="1" kern="1200">
                          <a:latin typeface="Cambria Math" panose="02040503050406030204" pitchFamily="18" charset="0"/>
                        </a:rPr>
                      </m:ctrlPr>
                    </m:sSubPr>
                    <m:e>
                      <m:r>
                        <a:rPr lang="en-US" sz="1400" i="1" kern="1200">
                          <a:latin typeface="Cambria Math"/>
                        </a:rPr>
                        <m:t>𝑧</m:t>
                      </m:r>
                    </m:e>
                    <m:sub>
                      <m:r>
                        <a:rPr lang="en-US" sz="1400" i="1" kern="1200">
                          <a:latin typeface="Cambria Math"/>
                        </a:rPr>
                        <m:t>𝑖</m:t>
                      </m:r>
                    </m:sub>
                  </m:sSub>
                </m:e>
              </m:acc>
              <m:r>
                <a:rPr lang="en-US" sz="1400" i="1" kern="1200">
                  <a:latin typeface="Cambria Math"/>
                </a:rPr>
                <m:t>=</m:t>
              </m:r>
              <m:sSub>
                <m:sSubPr>
                  <m:ctrlPr>
                    <a:rPr lang="es-ES" sz="1400" i="1" kern="1200">
                      <a:latin typeface="Cambria Math" panose="02040503050406030204" pitchFamily="18" charset="0"/>
                    </a:rPr>
                  </m:ctrlPr>
                </m:sSubPr>
                <m:e>
                  <m:acc>
                    <m:accPr>
                      <m:chr m:val="̂"/>
                      <m:ctrlPr>
                        <a:rPr lang="es-ES" sz="1400" i="1" kern="1200">
                          <a:latin typeface="Cambria Math" panose="02040503050406030204" pitchFamily="18" charset="0"/>
                        </a:rPr>
                      </m:ctrlPr>
                    </m:accPr>
                    <m:e>
                      <m:r>
                        <a:rPr lang="en-US" sz="1400" i="1" kern="1200">
                          <a:latin typeface="Cambria Math"/>
                        </a:rPr>
                        <m:t>𝑒</m:t>
                      </m:r>
                    </m:e>
                  </m:acc>
                </m:e>
                <m:sub>
                  <m:r>
                    <a:rPr lang="en-US" sz="1400" i="1" kern="1200">
                      <a:latin typeface="Cambria Math"/>
                    </a:rPr>
                    <m:t>𝑖</m:t>
                  </m:r>
                </m:sub>
              </m:sSub>
              <m:r>
                <a:rPr lang="en-US" sz="1400" i="1" kern="1200">
                  <a:latin typeface="Cambria Math"/>
                </a:rPr>
                <m:t> /</m:t>
              </m:r>
              <m:sSub>
                <m:sSubPr>
                  <m:ctrlPr>
                    <a:rPr lang="es-ES" sz="1400" i="1" kern="1200">
                      <a:latin typeface="Cambria Math" panose="02040503050406030204" pitchFamily="18" charset="0"/>
                    </a:rPr>
                  </m:ctrlPr>
                </m:sSubPr>
                <m:e>
                  <m:r>
                    <a:rPr lang="en-US" sz="1400" i="1" kern="1200">
                      <a:latin typeface="Cambria Math"/>
                    </a:rPr>
                    <m:t>𝑆𝐷</m:t>
                  </m:r>
                </m:e>
                <m:sub>
                  <m:r>
                    <a:rPr lang="en-US" sz="1400" i="1" kern="1200">
                      <a:latin typeface="Cambria Math"/>
                    </a:rPr>
                    <m:t>𝑒</m:t>
                  </m:r>
                </m:sub>
              </m:sSub>
            </m:oMath>
          </a14:m>
          <a:r>
            <a:rPr lang="en-US" sz="1400" kern="1200" dirty="0"/>
            <a:t>.</a:t>
          </a:r>
          <a:endParaRPr lang="es-CO" sz="1400" kern="1200" dirty="0"/>
        </a:p>
      </dsp:txBody>
      <dsp:txXfrm>
        <a:off x="4273320" y="1533927"/>
        <a:ext cx="1617706" cy="1753522"/>
      </dsp:txXfrm>
    </dsp:sp>
    <dsp:sp modelId="{15BDF4EF-1379-46C5-84C1-ED95C3EB8220}">
      <dsp:nvSpPr>
        <dsp:cNvPr id="0" name=""/>
        <dsp:cNvSpPr/>
      </dsp:nvSpPr>
      <dsp:spPr>
        <a:xfrm>
          <a:off x="6277330" y="1446413"/>
          <a:ext cx="1792734" cy="1928550"/>
        </a:xfrm>
        <a:prstGeom prst="roundRect">
          <a:avLst/>
        </a:prstGeom>
        <a:solidFill>
          <a:schemeClr val="accent3">
            <a:hueOff val="2710599"/>
            <a:satOff val="100000"/>
            <a:lumOff val="-1470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CO" sz="1400" kern="1200" dirty="0"/>
            <a:t>4. </a:t>
          </a:r>
          <a:r>
            <a:rPr lang="es-ES" sz="1400" kern="1200" dirty="0"/>
            <a:t>Transformar el valor z a percentil  exacto </a:t>
          </a:r>
          <a:endParaRPr lang="es-CO" sz="1400" kern="1200" dirty="0"/>
        </a:p>
      </dsp:txBody>
      <dsp:txXfrm>
        <a:off x="6364844" y="1533927"/>
        <a:ext cx="1617706" cy="175352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1"/>
            <a:ext cx="3169920" cy="480060"/>
          </a:xfrm>
          <a:prstGeom prst="rect">
            <a:avLst/>
          </a:prstGeom>
        </p:spPr>
        <p:txBody>
          <a:bodyPr vert="horz" lIns="99048" tIns="49524" rIns="99048" bIns="49524" rtlCol="0"/>
          <a:lstStyle>
            <a:lvl1pPr algn="l">
              <a:defRPr sz="1300"/>
            </a:lvl1pPr>
          </a:lstStyle>
          <a:p>
            <a:endParaRPr lang="es-ES"/>
          </a:p>
        </p:txBody>
      </p:sp>
      <p:sp>
        <p:nvSpPr>
          <p:cNvPr id="3" name="2 Marcador de fecha"/>
          <p:cNvSpPr>
            <a:spLocks noGrp="1"/>
          </p:cNvSpPr>
          <p:nvPr>
            <p:ph type="dt" sz="quarter" idx="1"/>
          </p:nvPr>
        </p:nvSpPr>
        <p:spPr>
          <a:xfrm>
            <a:off x="4143588" y="1"/>
            <a:ext cx="3169920" cy="480060"/>
          </a:xfrm>
          <a:prstGeom prst="rect">
            <a:avLst/>
          </a:prstGeom>
        </p:spPr>
        <p:txBody>
          <a:bodyPr vert="horz" lIns="99048" tIns="49524" rIns="99048" bIns="49524" rtlCol="0"/>
          <a:lstStyle>
            <a:lvl1pPr algn="r">
              <a:defRPr sz="1300"/>
            </a:lvl1pPr>
          </a:lstStyle>
          <a:p>
            <a:fld id="{16AB842B-6190-4EE8-999C-6CE3E407B9B8}" type="datetimeFigureOut">
              <a:rPr lang="es-ES" smtClean="0"/>
              <a:t>07/09/2020</a:t>
            </a:fld>
            <a:endParaRPr lang="es-ES"/>
          </a:p>
        </p:txBody>
      </p:sp>
      <p:sp>
        <p:nvSpPr>
          <p:cNvPr id="4" name="3 Marcador de pie de página"/>
          <p:cNvSpPr>
            <a:spLocks noGrp="1"/>
          </p:cNvSpPr>
          <p:nvPr>
            <p:ph type="ftr" sz="quarter" idx="2"/>
          </p:nvPr>
        </p:nvSpPr>
        <p:spPr>
          <a:xfrm>
            <a:off x="0" y="9119474"/>
            <a:ext cx="3169920" cy="480060"/>
          </a:xfrm>
          <a:prstGeom prst="rect">
            <a:avLst/>
          </a:prstGeom>
        </p:spPr>
        <p:txBody>
          <a:bodyPr vert="horz" lIns="99048" tIns="49524" rIns="99048" bIns="49524" rtlCol="0" anchor="b"/>
          <a:lstStyle>
            <a:lvl1pPr algn="l">
              <a:defRPr sz="1300"/>
            </a:lvl1pPr>
          </a:lstStyle>
          <a:p>
            <a:endParaRPr lang="es-ES"/>
          </a:p>
        </p:txBody>
      </p:sp>
      <p:sp>
        <p:nvSpPr>
          <p:cNvPr id="5" name="4 Marcador de número de diapositiva"/>
          <p:cNvSpPr>
            <a:spLocks noGrp="1"/>
          </p:cNvSpPr>
          <p:nvPr>
            <p:ph type="sldNum" sz="quarter" idx="3"/>
          </p:nvPr>
        </p:nvSpPr>
        <p:spPr>
          <a:xfrm>
            <a:off x="4143588" y="9119474"/>
            <a:ext cx="3169920" cy="480060"/>
          </a:xfrm>
          <a:prstGeom prst="rect">
            <a:avLst/>
          </a:prstGeom>
        </p:spPr>
        <p:txBody>
          <a:bodyPr vert="horz" lIns="99048" tIns="49524" rIns="99048" bIns="49524" rtlCol="0" anchor="b"/>
          <a:lstStyle>
            <a:lvl1pPr algn="r">
              <a:defRPr sz="1300"/>
            </a:lvl1pPr>
          </a:lstStyle>
          <a:p>
            <a:fld id="{C3379308-E3EA-4E0C-9346-4E0592B4B8C7}" type="slidenum">
              <a:rPr lang="es-ES" smtClean="0"/>
              <a:t>‹Nº›</a:t>
            </a:fld>
            <a:endParaRPr lang="es-ES"/>
          </a:p>
        </p:txBody>
      </p:sp>
    </p:spTree>
    <p:extLst>
      <p:ext uri="{BB962C8B-B14F-4D97-AF65-F5344CB8AC3E}">
        <p14:creationId xmlns:p14="http://schemas.microsoft.com/office/powerpoint/2010/main" val="11510423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1"/>
            <a:ext cx="3169920" cy="480060"/>
          </a:xfrm>
          <a:prstGeom prst="rect">
            <a:avLst/>
          </a:prstGeom>
        </p:spPr>
        <p:txBody>
          <a:bodyPr vert="horz" lIns="99048" tIns="49524" rIns="99048" bIns="49524" rtlCol="0"/>
          <a:lstStyle>
            <a:lvl1pPr algn="l">
              <a:defRPr sz="1300"/>
            </a:lvl1pPr>
          </a:lstStyle>
          <a:p>
            <a:endParaRPr lang="es-CO"/>
          </a:p>
        </p:txBody>
      </p:sp>
      <p:sp>
        <p:nvSpPr>
          <p:cNvPr id="3" name="2 Marcador de fecha"/>
          <p:cNvSpPr>
            <a:spLocks noGrp="1"/>
          </p:cNvSpPr>
          <p:nvPr>
            <p:ph type="dt" idx="1"/>
          </p:nvPr>
        </p:nvSpPr>
        <p:spPr>
          <a:xfrm>
            <a:off x="4143588" y="1"/>
            <a:ext cx="3169920" cy="480060"/>
          </a:xfrm>
          <a:prstGeom prst="rect">
            <a:avLst/>
          </a:prstGeom>
        </p:spPr>
        <p:txBody>
          <a:bodyPr vert="horz" lIns="99048" tIns="49524" rIns="99048" bIns="49524" rtlCol="0"/>
          <a:lstStyle>
            <a:lvl1pPr algn="r">
              <a:defRPr sz="1300"/>
            </a:lvl1pPr>
          </a:lstStyle>
          <a:p>
            <a:fld id="{F12393A4-24AC-4F16-809C-08CCB40AF26C}" type="datetimeFigureOut">
              <a:rPr lang="es-CO" smtClean="0"/>
              <a:t>7/09/2020</a:t>
            </a:fld>
            <a:endParaRPr lang="es-CO"/>
          </a:p>
        </p:txBody>
      </p:sp>
      <p:sp>
        <p:nvSpPr>
          <p:cNvPr id="4" name="3 Marcador de imagen de diapositiva"/>
          <p:cNvSpPr>
            <a:spLocks noGrp="1" noRot="1" noChangeAspect="1"/>
          </p:cNvSpPr>
          <p:nvPr>
            <p:ph type="sldImg" idx="2"/>
          </p:nvPr>
        </p:nvSpPr>
        <p:spPr>
          <a:xfrm>
            <a:off x="1258888" y="720725"/>
            <a:ext cx="4797425" cy="3598863"/>
          </a:xfrm>
          <a:prstGeom prst="rect">
            <a:avLst/>
          </a:prstGeom>
          <a:noFill/>
          <a:ln w="12700">
            <a:solidFill>
              <a:prstClr val="black"/>
            </a:solidFill>
          </a:ln>
        </p:spPr>
        <p:txBody>
          <a:bodyPr vert="horz" lIns="99048" tIns="49524" rIns="99048" bIns="49524" rtlCol="0" anchor="ctr"/>
          <a:lstStyle/>
          <a:p>
            <a:endParaRPr lang="es-CO"/>
          </a:p>
        </p:txBody>
      </p:sp>
      <p:sp>
        <p:nvSpPr>
          <p:cNvPr id="5" name="4 Marcador de notas"/>
          <p:cNvSpPr>
            <a:spLocks noGrp="1"/>
          </p:cNvSpPr>
          <p:nvPr>
            <p:ph type="body" sz="quarter" idx="3"/>
          </p:nvPr>
        </p:nvSpPr>
        <p:spPr>
          <a:xfrm>
            <a:off x="731520" y="4560570"/>
            <a:ext cx="5852160" cy="4320540"/>
          </a:xfrm>
          <a:prstGeom prst="rect">
            <a:avLst/>
          </a:prstGeom>
        </p:spPr>
        <p:txBody>
          <a:bodyPr vert="horz" lIns="99048" tIns="49524" rIns="99048" bIns="49524"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9119474"/>
            <a:ext cx="3169920" cy="480060"/>
          </a:xfrm>
          <a:prstGeom prst="rect">
            <a:avLst/>
          </a:prstGeom>
        </p:spPr>
        <p:txBody>
          <a:bodyPr vert="horz" lIns="99048" tIns="49524" rIns="99048" bIns="49524" rtlCol="0" anchor="b"/>
          <a:lstStyle>
            <a:lvl1pPr algn="l">
              <a:defRPr sz="1300"/>
            </a:lvl1pPr>
          </a:lstStyle>
          <a:p>
            <a:endParaRPr lang="es-CO"/>
          </a:p>
        </p:txBody>
      </p:sp>
      <p:sp>
        <p:nvSpPr>
          <p:cNvPr id="7" name="6 Marcador de número de diapositiva"/>
          <p:cNvSpPr>
            <a:spLocks noGrp="1"/>
          </p:cNvSpPr>
          <p:nvPr>
            <p:ph type="sldNum" sz="quarter" idx="5"/>
          </p:nvPr>
        </p:nvSpPr>
        <p:spPr>
          <a:xfrm>
            <a:off x="4143588" y="9119474"/>
            <a:ext cx="3169920" cy="480060"/>
          </a:xfrm>
          <a:prstGeom prst="rect">
            <a:avLst/>
          </a:prstGeom>
        </p:spPr>
        <p:txBody>
          <a:bodyPr vert="horz" lIns="99048" tIns="49524" rIns="99048" bIns="49524" rtlCol="0" anchor="b"/>
          <a:lstStyle>
            <a:lvl1pPr algn="r">
              <a:defRPr sz="1300"/>
            </a:lvl1pPr>
          </a:lstStyle>
          <a:p>
            <a:fld id="{7D3259B6-2603-48EC-B095-6E3CFD2A1F0F}" type="slidenum">
              <a:rPr lang="es-CO" smtClean="0"/>
              <a:t>‹Nº›</a:t>
            </a:fld>
            <a:endParaRPr lang="es-CO"/>
          </a:p>
        </p:txBody>
      </p:sp>
    </p:spTree>
    <p:extLst>
      <p:ext uri="{BB962C8B-B14F-4D97-AF65-F5344CB8AC3E}">
        <p14:creationId xmlns:p14="http://schemas.microsoft.com/office/powerpoint/2010/main" val="3985245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Cuando hablamos de baremos o datos normativos, lo primero que recordamos son las famosas puntuaciones z.</a:t>
            </a:r>
          </a:p>
          <a:p>
            <a:endParaRPr lang="es-AR" dirty="0"/>
          </a:p>
          <a:p>
            <a:r>
              <a:rPr lang="es-AR" dirty="0"/>
              <a:t>Esta formula nos permite transformar cualquier puntuación directa a puntuación z. Solamente necesitamos saber ……..</a:t>
            </a:r>
          </a:p>
        </p:txBody>
      </p:sp>
      <p:sp>
        <p:nvSpPr>
          <p:cNvPr id="4" name="Marcador de número de diapositiva 3"/>
          <p:cNvSpPr>
            <a:spLocks noGrp="1"/>
          </p:cNvSpPr>
          <p:nvPr>
            <p:ph type="sldNum" sz="quarter" idx="5"/>
          </p:nvPr>
        </p:nvSpPr>
        <p:spPr/>
        <p:txBody>
          <a:bodyPr/>
          <a:lstStyle/>
          <a:p>
            <a:fld id="{7D3259B6-2603-48EC-B095-6E3CFD2A1F0F}" type="slidenum">
              <a:rPr lang="es-CO" smtClean="0"/>
              <a:t>1</a:t>
            </a:fld>
            <a:endParaRPr lang="es-CO"/>
          </a:p>
        </p:txBody>
      </p:sp>
    </p:spTree>
    <p:extLst>
      <p:ext uri="{BB962C8B-B14F-4D97-AF65-F5344CB8AC3E}">
        <p14:creationId xmlns:p14="http://schemas.microsoft.com/office/powerpoint/2010/main" val="3870331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noProof="0" dirty="0"/>
              <a:t>Esta gráfica es muy conocida, nos muestra las equivalencia entre escalas, sin embargo es importante recordar que si se quiere realizar una transformación directa se debe realizar la evaluación de la normalidad o asumir la normalidad, cosa que no es muy recomendable y ya lo veremos.</a:t>
            </a:r>
          </a:p>
        </p:txBody>
      </p:sp>
      <p:sp>
        <p:nvSpPr>
          <p:cNvPr id="4" name="Marcador de número de diapositiva 3"/>
          <p:cNvSpPr>
            <a:spLocks noGrp="1"/>
          </p:cNvSpPr>
          <p:nvPr>
            <p:ph type="sldNum" sz="quarter" idx="5"/>
          </p:nvPr>
        </p:nvSpPr>
        <p:spPr/>
        <p:txBody>
          <a:bodyPr/>
          <a:lstStyle/>
          <a:p>
            <a:fld id="{7D3259B6-2603-48EC-B095-6E3CFD2A1F0F}" type="slidenum">
              <a:rPr lang="es-CO" smtClean="0"/>
              <a:t>2</a:t>
            </a:fld>
            <a:endParaRPr lang="es-CO"/>
          </a:p>
        </p:txBody>
      </p:sp>
    </p:spTree>
    <p:extLst>
      <p:ext uri="{BB962C8B-B14F-4D97-AF65-F5344CB8AC3E}">
        <p14:creationId xmlns:p14="http://schemas.microsoft.com/office/powerpoint/2010/main" val="1426767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D4F445-C20B-489A-BF64-B411F5BBCDBC}"/>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80A996B4-3138-45B1-9F8B-5678091FB42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F9077155-9140-4EB6-85C7-1B7EE738F179}"/>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5" name="Marcador de pie de página 4">
            <a:extLst>
              <a:ext uri="{FF2B5EF4-FFF2-40B4-BE49-F238E27FC236}">
                <a16:creationId xmlns:a16="http://schemas.microsoft.com/office/drawing/2014/main" id="{D8BDBFF9-EC00-4536-829C-9B25C1F05D1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2B89036-E99C-42C1-A595-9A0ED1282177}"/>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2138125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3F7556-6163-4AA9-A95D-A6966B208AD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474B00BE-7A62-40B0-923C-89406DADA5B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7A242283-50F1-4D52-BAFA-7AFBB81EF837}"/>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5" name="Marcador de pie de página 4">
            <a:extLst>
              <a:ext uri="{FF2B5EF4-FFF2-40B4-BE49-F238E27FC236}">
                <a16:creationId xmlns:a16="http://schemas.microsoft.com/office/drawing/2014/main" id="{317B1247-579A-460A-8BB0-1F70E6ED83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CF73F17-3440-40DB-8B8C-60273EFFA499}"/>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3561749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9D73CB-15C4-49FF-8799-D79B9BC40A01}"/>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E752650D-E3A8-470D-B48A-F7CD1C70DDF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19C5994-1201-44E8-BCF0-B08AAAED4D39}"/>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5" name="Marcador de pie de página 4">
            <a:extLst>
              <a:ext uri="{FF2B5EF4-FFF2-40B4-BE49-F238E27FC236}">
                <a16:creationId xmlns:a16="http://schemas.microsoft.com/office/drawing/2014/main" id="{EB21BC2D-DA60-414A-A4C9-6161D32DD48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241BC45-D026-4C58-9982-DCBBCCA3CEEA}"/>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1365913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E9458F-58C7-48C6-80D5-418C44D195B4}"/>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CC1D1524-457E-4693-949D-67DAC6DD6905}"/>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43E0CF5F-9A52-42E9-A6A6-70B2FB5DB061}"/>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F7443363-25AD-457D-9483-77F50EB48EE6}"/>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6" name="Marcador de pie de página 5">
            <a:extLst>
              <a:ext uri="{FF2B5EF4-FFF2-40B4-BE49-F238E27FC236}">
                <a16:creationId xmlns:a16="http://schemas.microsoft.com/office/drawing/2014/main" id="{96EC10FC-2E1E-4921-A78A-6A2A1F4143A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E311EF9-7449-49B9-AE72-7D1918F986A4}"/>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1605506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D1E20F-9EBC-4132-9342-2A4D0C35B8B7}"/>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E1BF38FB-BEA9-4BCE-996C-C3323800A71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19D9FB5-B1FD-4A56-90A7-CD194348FCDA}"/>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692B7166-AB06-4ACB-87D2-81C664F8004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1416AE8-2971-4E6D-9D90-2C68B25B6DFE}"/>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F57DA71D-130F-442D-8BE5-72A92A0F5C75}"/>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8" name="Marcador de pie de página 7">
            <a:extLst>
              <a:ext uri="{FF2B5EF4-FFF2-40B4-BE49-F238E27FC236}">
                <a16:creationId xmlns:a16="http://schemas.microsoft.com/office/drawing/2014/main" id="{6FC0E5FA-56A7-4F31-A939-BE49DB9EC451}"/>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968C818-F0D7-4B09-81CC-9FAA1E2F90FF}"/>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4033823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883AD2-4CAE-417E-BBCB-29447BA2937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FBF761B0-66AA-4336-BB59-2B8AC932362A}"/>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4" name="Marcador de pie de página 3">
            <a:extLst>
              <a:ext uri="{FF2B5EF4-FFF2-40B4-BE49-F238E27FC236}">
                <a16:creationId xmlns:a16="http://schemas.microsoft.com/office/drawing/2014/main" id="{DB1498F7-9C4B-4267-A2A2-38776525EBE0}"/>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9217825-86BD-4186-AD9C-88318DABF83B}"/>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840440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CB33D62-A3AA-4999-86FA-9836DB2D79A7}"/>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3" name="Marcador de pie de página 2">
            <a:extLst>
              <a:ext uri="{FF2B5EF4-FFF2-40B4-BE49-F238E27FC236}">
                <a16:creationId xmlns:a16="http://schemas.microsoft.com/office/drawing/2014/main" id="{A7CEC1F9-374F-492C-9E8E-7CFF7665739D}"/>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8B3CAD42-5693-4801-AB57-CF9B7C1B300E}"/>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347932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230259-E517-4F0B-AAFE-3DF222E8B0E3}"/>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49A0D73-E6C4-4DFB-8CDD-B598E38CF38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9CC72A9A-0DF6-46CE-B929-53D8C03602B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6B4C9A9-589A-4BD3-B972-F096BB4D71EB}"/>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6" name="Marcador de pie de página 5">
            <a:extLst>
              <a:ext uri="{FF2B5EF4-FFF2-40B4-BE49-F238E27FC236}">
                <a16:creationId xmlns:a16="http://schemas.microsoft.com/office/drawing/2014/main" id="{53F60C10-007D-460B-B4D0-4413E80C845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AC09645-7141-42A5-9AEC-E2250D39DF30}"/>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1046180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6E51DF-CE74-4604-82D4-596911310467}"/>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B8A4665D-D47E-4814-A1B6-0530FB84DA4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AR"/>
          </a:p>
        </p:txBody>
      </p:sp>
      <p:sp>
        <p:nvSpPr>
          <p:cNvPr id="4" name="Marcador de texto 3">
            <a:extLst>
              <a:ext uri="{FF2B5EF4-FFF2-40B4-BE49-F238E27FC236}">
                <a16:creationId xmlns:a16="http://schemas.microsoft.com/office/drawing/2014/main" id="{3D9591FE-7EE2-4594-A5BC-8F436B482A9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564ED1B-346F-474B-880E-897713EFF990}"/>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6" name="Marcador de pie de página 5">
            <a:extLst>
              <a:ext uri="{FF2B5EF4-FFF2-40B4-BE49-F238E27FC236}">
                <a16:creationId xmlns:a16="http://schemas.microsoft.com/office/drawing/2014/main" id="{AF8A4A0F-2831-4E55-AF9E-690B45C8606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BAC3CBE-5F3F-4EF6-9663-784C0E3DFFE0}"/>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792356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5277D5-4FF3-4F6A-A8E6-F57E120FFB3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0B497EFF-3AAB-4F92-9142-4F7B728E986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0932E470-8A6F-4612-8365-2A2CD9C771E6}"/>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5" name="Marcador de pie de página 4">
            <a:extLst>
              <a:ext uri="{FF2B5EF4-FFF2-40B4-BE49-F238E27FC236}">
                <a16:creationId xmlns:a16="http://schemas.microsoft.com/office/drawing/2014/main" id="{3B68575A-5DE1-46A2-9003-A683AFC8ACF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F26A09-1DA3-4670-A710-0C2F1BBE0F3A}"/>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2567647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5CF488-2089-4718-AFC8-AEB9E6DBA854}"/>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CD2CE64F-DA30-4A43-96D5-FF43A102D785}"/>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1021A572-1809-4656-BAD3-8EECF6D191F4}"/>
              </a:ext>
            </a:extLst>
          </p:cNvPr>
          <p:cNvSpPr>
            <a:spLocks noGrp="1"/>
          </p:cNvSpPr>
          <p:nvPr>
            <p:ph type="dt" sz="half" idx="10"/>
          </p:nvPr>
        </p:nvSpPr>
        <p:spPr/>
        <p:txBody>
          <a:bodyPr/>
          <a:lstStyle/>
          <a:p>
            <a:fld id="{1DF10613-2139-4D9D-BE14-208A4A9CD8FE}" type="datetimeFigureOut">
              <a:rPr lang="es-CO" smtClean="0"/>
              <a:t>7/09/2020</a:t>
            </a:fld>
            <a:endParaRPr lang="es-CO"/>
          </a:p>
        </p:txBody>
      </p:sp>
      <p:sp>
        <p:nvSpPr>
          <p:cNvPr id="5" name="Marcador de pie de página 4">
            <a:extLst>
              <a:ext uri="{FF2B5EF4-FFF2-40B4-BE49-F238E27FC236}">
                <a16:creationId xmlns:a16="http://schemas.microsoft.com/office/drawing/2014/main" id="{2F74A181-E275-4C7B-B831-DFBF20FA81A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7C8E4D3-7870-4CA1-A031-9D4B9998D678}"/>
              </a:ext>
            </a:extLst>
          </p:cNvPr>
          <p:cNvSpPr>
            <a:spLocks noGrp="1"/>
          </p:cNvSpPr>
          <p:nvPr>
            <p:ph type="sldNum" sz="quarter" idx="12"/>
          </p:nvPr>
        </p:nvSpPr>
        <p:spPr/>
        <p:txBody>
          <a:bodyPr/>
          <a:lstStyle/>
          <a:p>
            <a:fld id="{D85CC998-69E1-406A-BFB2-F2711C476762}" type="slidenum">
              <a:rPr lang="es-CO" smtClean="0"/>
              <a:t>‹Nº›</a:t>
            </a:fld>
            <a:endParaRPr lang="es-CO"/>
          </a:p>
        </p:txBody>
      </p:sp>
    </p:spTree>
    <p:extLst>
      <p:ext uri="{BB962C8B-B14F-4D97-AF65-F5344CB8AC3E}">
        <p14:creationId xmlns:p14="http://schemas.microsoft.com/office/powerpoint/2010/main" val="3878660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D5A07CB-F921-4C27-96C5-88836E0998D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E73B8B58-BD6E-4220-8DC4-DCE488BCDF5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6B26A5F-A65D-4E34-8FE8-EDC9A7FE24E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F10613-2139-4D9D-BE14-208A4A9CD8FE}" type="datetimeFigureOut">
              <a:rPr lang="es-CO" smtClean="0"/>
              <a:t>7/09/2020</a:t>
            </a:fld>
            <a:endParaRPr lang="es-CO"/>
          </a:p>
        </p:txBody>
      </p:sp>
      <p:sp>
        <p:nvSpPr>
          <p:cNvPr id="5" name="Marcador de pie de página 4">
            <a:extLst>
              <a:ext uri="{FF2B5EF4-FFF2-40B4-BE49-F238E27FC236}">
                <a16:creationId xmlns:a16="http://schemas.microsoft.com/office/drawing/2014/main" id="{DB721AF5-EEB3-4FB7-AF65-735B0E231BF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D96A157-7F96-4CA3-9022-2A623629CCB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85CC998-69E1-406A-BFB2-F2711C476762}" type="slidenum">
              <a:rPr lang="es-CO" smtClean="0"/>
              <a:t>‹Nº›</a:t>
            </a:fld>
            <a:endParaRPr lang="es-CO"/>
          </a:p>
        </p:txBody>
      </p:sp>
    </p:spTree>
    <p:extLst>
      <p:ext uri="{BB962C8B-B14F-4D97-AF65-F5344CB8AC3E}">
        <p14:creationId xmlns:p14="http://schemas.microsoft.com/office/powerpoint/2010/main" val="281597572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A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diagramLayout" Target="../diagrams/layout1.xml"/><Relationship Id="rId7" Type="http://schemas.openxmlformats.org/officeDocument/2006/relationships/diagramData" Target="../diagrams/data1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063641-09D6-44BD-A23B-D17D0A2E7D6F}"/>
              </a:ext>
            </a:extLst>
          </p:cNvPr>
          <p:cNvSpPr>
            <a:spLocks noGrp="1"/>
          </p:cNvSpPr>
          <p:nvPr>
            <p:ph type="title"/>
          </p:nvPr>
        </p:nvSpPr>
        <p:spPr/>
        <p:txBody>
          <a:bodyPr>
            <a:normAutofit/>
          </a:bodyPr>
          <a:lstStyle/>
          <a:p>
            <a:pPr algn="ctr"/>
            <a:r>
              <a:rPr lang="es-ES" sz="4400" b="1" dirty="0"/>
              <a:t>Puntuaciones típicas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29408E5-44D7-4A88-BF79-6248D35C8DDD}"/>
                  </a:ext>
                </a:extLst>
              </p:cNvPr>
              <p:cNvSpPr>
                <a:spLocks noGrp="1"/>
              </p:cNvSpPr>
              <p:nvPr>
                <p:ph idx="1"/>
              </p:nvPr>
            </p:nvSpPr>
            <p:spPr/>
            <p:txBody>
              <a:bodyPr>
                <a:normAutofit lnSpcReduction="10000"/>
              </a:bodyPr>
              <a:lstStyle/>
              <a:p>
                <a:r>
                  <a:rPr lang="es-AR" sz="3200" dirty="0"/>
                  <a:t>Puntuaciones Z </a:t>
                </a:r>
                <a:r>
                  <a:rPr lang="es-AR" sz="3200" dirty="0">
                    <a:sym typeface="Wingdings" panose="05000000000000000000" pitchFamily="2" charset="2"/>
                  </a:rPr>
                  <a:t> </a:t>
                </a:r>
                <a14:m>
                  <m:oMath xmlns:m="http://schemas.openxmlformats.org/officeDocument/2006/math">
                    <m:d>
                      <m:dPr>
                        <m:ctrlPr>
                          <a:rPr lang="es-AR" sz="3200" i="1" smtClean="0">
                            <a:latin typeface="Cambria Math" panose="02040503050406030204" pitchFamily="18" charset="0"/>
                            <a:sym typeface="Wingdings" panose="05000000000000000000" pitchFamily="2" charset="2"/>
                          </a:rPr>
                        </m:ctrlPr>
                      </m:dPr>
                      <m:e>
                        <m:sSub>
                          <m:sSubPr>
                            <m:ctrlPr>
                              <a:rPr lang="es-AR" sz="3200" i="1" smtClean="0">
                                <a:latin typeface="Cambria Math" panose="02040503050406030204" pitchFamily="18" charset="0"/>
                                <a:sym typeface="Wingdings" panose="05000000000000000000" pitchFamily="2" charset="2"/>
                              </a:rPr>
                            </m:ctrlPr>
                          </m:sSubPr>
                          <m:e>
                            <m:r>
                              <a:rPr lang="es-AR" sz="3200" b="0" i="1" smtClean="0">
                                <a:latin typeface="Cambria Math" panose="02040503050406030204" pitchFamily="18" charset="0"/>
                                <a:sym typeface="Wingdings" panose="05000000000000000000" pitchFamily="2" charset="2"/>
                              </a:rPr>
                              <m:t>𝑍</m:t>
                            </m:r>
                          </m:e>
                          <m:sub>
                            <m:r>
                              <a:rPr lang="es-AR" sz="3200" b="0" i="1" smtClean="0">
                                <a:latin typeface="Cambria Math" panose="02040503050406030204" pitchFamily="18" charset="0"/>
                                <a:sym typeface="Wingdings" panose="05000000000000000000" pitchFamily="2" charset="2"/>
                              </a:rPr>
                              <m:t>𝑥</m:t>
                            </m:r>
                          </m:sub>
                        </m:sSub>
                      </m:e>
                    </m:d>
                  </m:oMath>
                </a14:m>
                <a:endParaRPr lang="es-AR" sz="2800" dirty="0"/>
              </a:p>
              <a:p>
                <a:pPr marL="0" indent="0">
                  <a:buNone/>
                </a:pPr>
                <a:endParaRPr lang="es-AR" dirty="0"/>
              </a:p>
              <a:p>
                <a:pPr marL="0" indent="0">
                  <a:buNone/>
                </a:pPr>
                <a14:m>
                  <m:oMathPara xmlns:m="http://schemas.openxmlformats.org/officeDocument/2006/math">
                    <m:oMathParaPr>
                      <m:jc m:val="centerGroup"/>
                    </m:oMathParaPr>
                    <m:oMath xmlns:m="http://schemas.openxmlformats.org/officeDocument/2006/math">
                      <m:sSub>
                        <m:sSubPr>
                          <m:ctrlPr>
                            <a:rPr lang="es-AR" sz="4000" b="0" i="1" smtClean="0">
                              <a:latin typeface="Cambria Math" panose="02040503050406030204" pitchFamily="18" charset="0"/>
                            </a:rPr>
                          </m:ctrlPr>
                        </m:sSubPr>
                        <m:e>
                          <m:r>
                            <a:rPr lang="es-AR" sz="4000" b="0" i="1" smtClean="0">
                              <a:latin typeface="Cambria Math" panose="02040503050406030204" pitchFamily="18" charset="0"/>
                            </a:rPr>
                            <m:t>𝑍</m:t>
                          </m:r>
                        </m:e>
                        <m:sub>
                          <m:r>
                            <a:rPr lang="es-AR" sz="4000" b="0" i="1" smtClean="0">
                              <a:latin typeface="Cambria Math" panose="02040503050406030204" pitchFamily="18" charset="0"/>
                            </a:rPr>
                            <m:t>𝑥</m:t>
                          </m:r>
                        </m:sub>
                      </m:sSub>
                      <m:r>
                        <a:rPr lang="es-AR" sz="4000" b="0" i="1" smtClean="0">
                          <a:latin typeface="Cambria Math" panose="02040503050406030204" pitchFamily="18" charset="0"/>
                        </a:rPr>
                        <m:t>=</m:t>
                      </m:r>
                      <m:f>
                        <m:fPr>
                          <m:ctrlPr>
                            <a:rPr lang="es-AR" sz="4000" b="0" i="1" smtClean="0">
                              <a:latin typeface="Cambria Math" panose="02040503050406030204" pitchFamily="18" charset="0"/>
                            </a:rPr>
                          </m:ctrlPr>
                        </m:fPr>
                        <m:num>
                          <m:r>
                            <a:rPr lang="es-AR" sz="4000" b="0" i="1" smtClean="0">
                              <a:latin typeface="Cambria Math" panose="02040503050406030204" pitchFamily="18" charset="0"/>
                            </a:rPr>
                            <m:t>𝑋</m:t>
                          </m:r>
                          <m:r>
                            <a:rPr lang="es-AR" sz="4000" b="0" i="1" smtClean="0">
                              <a:latin typeface="Cambria Math" panose="02040503050406030204" pitchFamily="18" charset="0"/>
                            </a:rPr>
                            <m:t>−</m:t>
                          </m:r>
                          <m:acc>
                            <m:accPr>
                              <m:chr m:val="̅"/>
                              <m:ctrlPr>
                                <a:rPr lang="es-AR" sz="4000" b="0" i="1" smtClean="0">
                                  <a:latin typeface="Cambria Math" panose="02040503050406030204" pitchFamily="18" charset="0"/>
                                </a:rPr>
                              </m:ctrlPr>
                            </m:accPr>
                            <m:e>
                              <m:r>
                                <a:rPr lang="es-AR" sz="4000" b="0" i="1" smtClean="0">
                                  <a:latin typeface="Cambria Math" panose="02040503050406030204" pitchFamily="18" charset="0"/>
                                </a:rPr>
                                <m:t>𝑋</m:t>
                              </m:r>
                            </m:e>
                          </m:acc>
                        </m:num>
                        <m:den>
                          <m:sSub>
                            <m:sSubPr>
                              <m:ctrlPr>
                                <a:rPr lang="es-AR" sz="4000" b="0" i="1" smtClean="0">
                                  <a:latin typeface="Cambria Math" panose="02040503050406030204" pitchFamily="18" charset="0"/>
                                </a:rPr>
                              </m:ctrlPr>
                            </m:sSubPr>
                            <m:e>
                              <m:r>
                                <a:rPr lang="es-AR" sz="4000" b="0" i="1" smtClean="0">
                                  <a:latin typeface="Cambria Math" panose="02040503050406030204" pitchFamily="18" charset="0"/>
                                </a:rPr>
                                <m:t>𝑆</m:t>
                              </m:r>
                            </m:e>
                            <m:sub>
                              <m:r>
                                <a:rPr lang="es-AR" sz="4000" b="0" i="1" smtClean="0">
                                  <a:latin typeface="Cambria Math" panose="02040503050406030204" pitchFamily="18" charset="0"/>
                                </a:rPr>
                                <m:t>𝑥</m:t>
                              </m:r>
                            </m:sub>
                          </m:sSub>
                        </m:den>
                      </m:f>
                      <m:r>
                        <a:rPr lang="es-AR" sz="4000" b="0" i="1" smtClean="0">
                          <a:latin typeface="Cambria Math" panose="02040503050406030204" pitchFamily="18" charset="0"/>
                        </a:rPr>
                        <m:t> </m:t>
                      </m:r>
                    </m:oMath>
                  </m:oMathPara>
                </a14:m>
                <a:endParaRPr lang="es-AR" sz="4000" dirty="0"/>
              </a:p>
              <a:p>
                <a:pPr marL="0" indent="0">
                  <a:buNone/>
                </a:pPr>
                <a:endParaRPr lang="en-US" sz="4000" i="1" dirty="0">
                  <a:latin typeface="Cambria Math" panose="02040503050406030204" pitchFamily="18" charset="0"/>
                </a:endParaRPr>
              </a:p>
              <a:p>
                <a:pPr marL="0" indent="0">
                  <a:buNone/>
                </a:pPr>
                <a14:m>
                  <m:oMath xmlns:m="http://schemas.openxmlformats.org/officeDocument/2006/math">
                    <m:r>
                      <a:rPr lang="es-AR" sz="3200" i="1">
                        <a:latin typeface="Cambria Math" panose="02040503050406030204" pitchFamily="18" charset="0"/>
                      </a:rPr>
                      <m:t>𝑋</m:t>
                    </m:r>
                    <m:r>
                      <a:rPr lang="en-US" sz="3200" b="0" i="1" smtClean="0">
                        <a:latin typeface="Cambria Math" panose="02040503050406030204" pitchFamily="18" charset="0"/>
                      </a:rPr>
                      <m:t> =</m:t>
                    </m:r>
                  </m:oMath>
                </a14:m>
                <a:r>
                  <a:rPr lang="es-AR" sz="3200" dirty="0"/>
                  <a:t> Puntuación directa</a:t>
                </a:r>
              </a:p>
              <a:p>
                <a:pPr marL="0" indent="0">
                  <a:buNone/>
                </a:pPr>
                <a14:m>
                  <m:oMath xmlns:m="http://schemas.openxmlformats.org/officeDocument/2006/math">
                    <m:acc>
                      <m:accPr>
                        <m:chr m:val="̅"/>
                        <m:ctrlPr>
                          <a:rPr lang="es-AR" sz="3200" i="1">
                            <a:latin typeface="Cambria Math" panose="02040503050406030204" pitchFamily="18" charset="0"/>
                          </a:rPr>
                        </m:ctrlPr>
                      </m:accPr>
                      <m:e>
                        <m:r>
                          <a:rPr lang="es-AR" sz="3200" i="1">
                            <a:latin typeface="Cambria Math" panose="02040503050406030204" pitchFamily="18" charset="0"/>
                          </a:rPr>
                          <m:t>𝑋</m:t>
                        </m:r>
                      </m:e>
                    </m:acc>
                    <m:r>
                      <a:rPr lang="en-US" sz="3200" b="0" i="1" smtClean="0">
                        <a:latin typeface="Cambria Math" panose="02040503050406030204" pitchFamily="18" charset="0"/>
                      </a:rPr>
                      <m:t> =</m:t>
                    </m:r>
                  </m:oMath>
                </a14:m>
                <a:r>
                  <a:rPr lang="es-AR" sz="4000" dirty="0"/>
                  <a:t> </a:t>
                </a:r>
                <a:r>
                  <a:rPr lang="es-AR" sz="3200" dirty="0"/>
                  <a:t>Media de la muestra</a:t>
                </a:r>
                <a:endParaRPr lang="es-AR" sz="4000" dirty="0"/>
              </a:p>
              <a:p>
                <a:pPr marL="0" indent="0">
                  <a:buNone/>
                </a:pPr>
                <a14:m>
                  <m:oMath xmlns:m="http://schemas.openxmlformats.org/officeDocument/2006/math">
                    <m:sSub>
                      <m:sSubPr>
                        <m:ctrlPr>
                          <a:rPr lang="es-AR" sz="3200" i="1">
                            <a:latin typeface="Cambria Math" panose="02040503050406030204" pitchFamily="18" charset="0"/>
                          </a:rPr>
                        </m:ctrlPr>
                      </m:sSubPr>
                      <m:e>
                        <m:r>
                          <a:rPr lang="es-AR" sz="3200" i="1">
                            <a:latin typeface="Cambria Math" panose="02040503050406030204" pitchFamily="18" charset="0"/>
                          </a:rPr>
                          <m:t>𝑆</m:t>
                        </m:r>
                      </m:e>
                      <m:sub>
                        <m:r>
                          <a:rPr lang="es-AR" sz="3200" i="1">
                            <a:latin typeface="Cambria Math" panose="02040503050406030204" pitchFamily="18" charset="0"/>
                          </a:rPr>
                          <m:t>𝑥</m:t>
                        </m:r>
                      </m:sub>
                    </m:sSub>
                    <m:r>
                      <a:rPr lang="en-US" sz="3200" b="0" i="1" smtClean="0">
                        <a:latin typeface="Cambria Math" panose="02040503050406030204" pitchFamily="18" charset="0"/>
                      </a:rPr>
                      <m:t>=</m:t>
                    </m:r>
                  </m:oMath>
                </a14:m>
                <a:r>
                  <a:rPr lang="es-AR" sz="4000" dirty="0"/>
                  <a:t> </a:t>
                </a:r>
                <a:r>
                  <a:rPr lang="es-AR" sz="3200" dirty="0"/>
                  <a:t>Desviación típica </a:t>
                </a:r>
                <a:endParaRPr lang="es-AR" sz="4000" dirty="0"/>
              </a:p>
            </p:txBody>
          </p:sp>
        </mc:Choice>
        <mc:Fallback xmlns="">
          <p:sp>
            <p:nvSpPr>
              <p:cNvPr id="3" name="Marcador de contenido 2">
                <a:extLst>
                  <a:ext uri="{FF2B5EF4-FFF2-40B4-BE49-F238E27FC236}">
                    <a16:creationId xmlns:a16="http://schemas.microsoft.com/office/drawing/2014/main" id="{D29408E5-44D7-4A88-BF79-6248D35C8DDD}"/>
                  </a:ext>
                </a:extLst>
              </p:cNvPr>
              <p:cNvSpPr>
                <a:spLocks noGrp="1" noRot="1" noChangeAspect="1" noMove="1" noResize="1" noEditPoints="1" noAdjustHandles="1" noChangeArrowheads="1" noChangeShapeType="1" noTextEdit="1"/>
              </p:cNvSpPr>
              <p:nvPr>
                <p:ph idx="1"/>
              </p:nvPr>
            </p:nvSpPr>
            <p:spPr>
              <a:blipFill>
                <a:blip r:embed="rId3"/>
                <a:stretch>
                  <a:fillRect l="-1777" t="-4202" b="-2941"/>
                </a:stretch>
              </a:blipFill>
            </p:spPr>
            <p:txBody>
              <a:bodyPr/>
              <a:lstStyle/>
              <a:p>
                <a:r>
                  <a:rPr lang="es-AR">
                    <a:noFill/>
                  </a:rPr>
                  <a:t> </a:t>
                </a:r>
              </a:p>
            </p:txBody>
          </p:sp>
        </mc:Fallback>
      </mc:AlternateContent>
    </p:spTree>
    <p:extLst>
      <p:ext uri="{BB962C8B-B14F-4D97-AF65-F5344CB8AC3E}">
        <p14:creationId xmlns:p14="http://schemas.microsoft.com/office/powerpoint/2010/main" val="723605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a:extLst>
              <a:ext uri="{FF2B5EF4-FFF2-40B4-BE49-F238E27FC236}">
                <a16:creationId xmlns:a16="http://schemas.microsoft.com/office/drawing/2014/main" id="{83000F6D-B7A2-4FA2-AE9A-956FE032FC58}"/>
              </a:ext>
            </a:extLst>
          </p:cNvPr>
          <p:cNvPicPr>
            <a:picLocks noGrp="1" noChangeAspect="1"/>
          </p:cNvPicPr>
          <p:nvPr>
            <p:ph idx="1"/>
          </p:nvPr>
        </p:nvPicPr>
        <p:blipFill rotWithShape="1">
          <a:blip r:embed="rId3"/>
          <a:srcRect r="3428"/>
          <a:stretch/>
        </p:blipFill>
        <p:spPr>
          <a:xfrm>
            <a:off x="0" y="548680"/>
            <a:ext cx="9144000" cy="6093296"/>
          </a:xfrm>
          <a:prstGeom prst="rect">
            <a:avLst/>
          </a:prstGeom>
        </p:spPr>
      </p:pic>
      <p:sp>
        <p:nvSpPr>
          <p:cNvPr id="8" name="CuadroTexto 7">
            <a:extLst>
              <a:ext uri="{FF2B5EF4-FFF2-40B4-BE49-F238E27FC236}">
                <a16:creationId xmlns:a16="http://schemas.microsoft.com/office/drawing/2014/main" id="{5CAACA9C-EF4E-44A1-B1D4-12380ED665A0}"/>
              </a:ext>
            </a:extLst>
          </p:cNvPr>
          <p:cNvSpPr txBox="1"/>
          <p:nvPr/>
        </p:nvSpPr>
        <p:spPr>
          <a:xfrm>
            <a:off x="7380312" y="6491372"/>
            <a:ext cx="2088232" cy="369332"/>
          </a:xfrm>
          <a:prstGeom prst="rect">
            <a:avLst/>
          </a:prstGeom>
          <a:noFill/>
        </p:spPr>
        <p:txBody>
          <a:bodyPr wrap="square" rtlCol="0">
            <a:spAutoFit/>
          </a:bodyPr>
          <a:lstStyle/>
          <a:p>
            <a:r>
              <a:rPr lang="en-US"/>
              <a:t>Aiken, </a:t>
            </a:r>
            <a:r>
              <a:rPr lang="en-US" dirty="0"/>
              <a:t>L.R. (2003)</a:t>
            </a:r>
            <a:endParaRPr lang="es-AR" dirty="0"/>
          </a:p>
        </p:txBody>
      </p:sp>
      <p:pic>
        <p:nvPicPr>
          <p:cNvPr id="1026" name="Picture 2" descr="Advertencia Peligro Atención - Imagen gratis en Pixabay">
            <a:extLst>
              <a:ext uri="{FF2B5EF4-FFF2-40B4-BE49-F238E27FC236}">
                <a16:creationId xmlns:a16="http://schemas.microsoft.com/office/drawing/2014/main" id="{874843A8-FFDE-4DAC-8429-E1AC17E9326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92280" y="216024"/>
            <a:ext cx="1916832" cy="1916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53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270421F-3D0C-44E0-B234-AE365D9E2C17}"/>
              </a:ext>
            </a:extLst>
          </p:cNvPr>
          <p:cNvPicPr>
            <a:picLocks noChangeAspect="1"/>
          </p:cNvPicPr>
          <p:nvPr/>
        </p:nvPicPr>
        <p:blipFill>
          <a:blip r:embed="rId2"/>
          <a:stretch>
            <a:fillRect/>
          </a:stretch>
        </p:blipFill>
        <p:spPr>
          <a:xfrm>
            <a:off x="235322" y="664117"/>
            <a:ext cx="8908678" cy="5385750"/>
          </a:xfrm>
          <a:prstGeom prst="rect">
            <a:avLst/>
          </a:prstGeom>
        </p:spPr>
      </p:pic>
      <p:cxnSp>
        <p:nvCxnSpPr>
          <p:cNvPr id="9" name="8 Conector recto de flecha"/>
          <p:cNvCxnSpPr/>
          <p:nvPr/>
        </p:nvCxnSpPr>
        <p:spPr>
          <a:xfrm>
            <a:off x="4355976" y="3861048"/>
            <a:ext cx="216024" cy="57606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26 Conector recto de flecha"/>
          <p:cNvCxnSpPr/>
          <p:nvPr/>
        </p:nvCxnSpPr>
        <p:spPr>
          <a:xfrm>
            <a:off x="4355976" y="3212976"/>
            <a:ext cx="216024" cy="57606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287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8347DC-7CB0-4971-9753-70C3784023E9}"/>
              </a:ext>
            </a:extLst>
          </p:cNvPr>
          <p:cNvSpPr>
            <a:spLocks noGrp="1"/>
          </p:cNvSpPr>
          <p:nvPr>
            <p:ph type="title"/>
          </p:nvPr>
        </p:nvSpPr>
        <p:spPr/>
        <p:txBody>
          <a:bodyPr>
            <a:normAutofit/>
          </a:bodyPr>
          <a:lstStyle/>
          <a:p>
            <a:pPr algn="ctr"/>
            <a:r>
              <a:rPr lang="es-ES" sz="3600" b="1" dirty="0"/>
              <a:t>Datos normativos - Procedimiento</a:t>
            </a:r>
          </a:p>
        </p:txBody>
      </p:sp>
      <mc:AlternateContent xmlns:mc="http://schemas.openxmlformats.org/markup-compatibility/2006" xmlns:a14="http://schemas.microsoft.com/office/drawing/2010/main">
        <mc:Choice Requires="a14">
          <p:graphicFrame>
            <p:nvGraphicFramePr>
              <p:cNvPr id="4" name="2 Diagrama">
                <a:extLst>
                  <a:ext uri="{FF2B5EF4-FFF2-40B4-BE49-F238E27FC236}">
                    <a16:creationId xmlns:a16="http://schemas.microsoft.com/office/drawing/2014/main" id="{3381C7DA-D316-4B1D-B191-4FD06193C179}"/>
                  </a:ext>
                </a:extLst>
              </p:cNvPr>
              <p:cNvGraphicFramePr/>
              <p:nvPr>
                <p:extLst>
                  <p:ext uri="{D42A27DB-BD31-4B8C-83A1-F6EECF244321}">
                    <p14:modId xmlns:p14="http://schemas.microsoft.com/office/powerpoint/2010/main" val="3059579210"/>
                  </p:ext>
                </p:extLst>
              </p:nvPr>
            </p:nvGraphicFramePr>
            <p:xfrm>
              <a:off x="535588" y="1844916"/>
              <a:ext cx="8072824" cy="4821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4" name="2 Diagrama">
                <a:extLst>
                  <a:ext uri="{FF2B5EF4-FFF2-40B4-BE49-F238E27FC236}">
                    <a16:creationId xmlns:a16="http://schemas.microsoft.com/office/drawing/2014/main" id="{3381C7DA-D316-4B1D-B191-4FD06193C179}"/>
                  </a:ext>
                </a:extLst>
              </p:cNvPr>
              <p:cNvGraphicFramePr/>
              <p:nvPr>
                <p:extLst>
                  <p:ext uri="{D42A27DB-BD31-4B8C-83A1-F6EECF244321}">
                    <p14:modId xmlns:p14="http://schemas.microsoft.com/office/powerpoint/2010/main" val="3059579210"/>
                  </p:ext>
                </p:extLst>
              </p:nvPr>
            </p:nvGraphicFramePr>
            <p:xfrm>
              <a:off x="535588" y="1844916"/>
              <a:ext cx="8072824" cy="48213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
        <p:nvSpPr>
          <p:cNvPr id="5" name="3 Rectángulo">
            <a:extLst>
              <a:ext uri="{FF2B5EF4-FFF2-40B4-BE49-F238E27FC236}">
                <a16:creationId xmlns:a16="http://schemas.microsoft.com/office/drawing/2014/main" id="{14977275-F319-45D8-918F-31EC8339CA99}"/>
              </a:ext>
            </a:extLst>
          </p:cNvPr>
          <p:cNvSpPr/>
          <p:nvPr/>
        </p:nvSpPr>
        <p:spPr>
          <a:xfrm>
            <a:off x="3779913" y="6615407"/>
            <a:ext cx="5364087" cy="230819"/>
          </a:xfrm>
          <a:prstGeom prst="rect">
            <a:avLst/>
          </a:prstGeom>
        </p:spPr>
        <p:txBody>
          <a:bodyPr wrap="square" lIns="91422" tIns="45711" rIns="91422" bIns="45711">
            <a:spAutoFit/>
          </a:bodyPr>
          <a:lstStyle/>
          <a:p>
            <a:pPr algn="r"/>
            <a:r>
              <a:rPr lang="nl-NL" sz="900" dirty="0"/>
              <a:t>Rivera </a:t>
            </a:r>
            <a:r>
              <a:rPr lang="nl-NL" sz="900"/>
              <a:t>&amp; Arango-Lasprilla, </a:t>
            </a:r>
            <a:r>
              <a:rPr lang="nl-NL" sz="900" dirty="0"/>
              <a:t>(2017); Van der Elst et </a:t>
            </a:r>
            <a:r>
              <a:rPr lang="nl-NL" sz="900"/>
              <a:t>al., </a:t>
            </a:r>
            <a:r>
              <a:rPr lang="nl-NL" sz="900" dirty="0"/>
              <a:t>(2013)</a:t>
            </a:r>
            <a:endParaRPr lang="es-CO" sz="900" dirty="0"/>
          </a:p>
        </p:txBody>
      </p:sp>
    </p:spTree>
    <p:extLst>
      <p:ext uri="{BB962C8B-B14F-4D97-AF65-F5344CB8AC3E}">
        <p14:creationId xmlns:p14="http://schemas.microsoft.com/office/powerpoint/2010/main" val="190622492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1048</TotalTime>
  <Words>181</Words>
  <Application>Microsoft Office PowerPoint</Application>
  <PresentationFormat>Presentación en pantalla (4:3)</PresentationFormat>
  <Paragraphs>23</Paragraphs>
  <Slides>4</Slides>
  <Notes>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vt:i4>
      </vt:variant>
    </vt:vector>
  </HeadingPairs>
  <TitlesOfParts>
    <vt:vector size="9" baseType="lpstr">
      <vt:lpstr>Arial</vt:lpstr>
      <vt:lpstr>Calibri</vt:lpstr>
      <vt:lpstr>Calibri Light</vt:lpstr>
      <vt:lpstr>Cambria Math</vt:lpstr>
      <vt:lpstr>Tema de Office</vt:lpstr>
      <vt:lpstr>Puntuaciones típicas</vt:lpstr>
      <vt:lpstr>Presentación de PowerPoint</vt:lpstr>
      <vt:lpstr>Presentación de PowerPoint</vt:lpstr>
      <vt:lpstr>Datos normativos - Procedimiento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Métodos de baremación de pruebas neuropsicológicas en español y su impacto en la clínica </dc:title>
  <dc:creator>Laiene Olabarrieta Landa</dc:creator>
  <cp:lastModifiedBy>Laiene Olabarrieta Landa</cp:lastModifiedBy>
  <cp:revision>69</cp:revision>
  <dcterms:created xsi:type="dcterms:W3CDTF">2020-04-16T16:31:15Z</dcterms:created>
  <dcterms:modified xsi:type="dcterms:W3CDTF">2020-09-07T20:00:29Z</dcterms:modified>
</cp:coreProperties>
</file>